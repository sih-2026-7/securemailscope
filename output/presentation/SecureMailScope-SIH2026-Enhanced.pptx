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aecd308c9f649fa" /><Relationship Type="http://schemas.openxmlformats.org/officeDocument/2006/relationships/extended-properties" Target="/docProps/app.xml" Id="R7bf9547260e4465f" /><Relationship Type="http://schemas.openxmlformats.org/officeDocument/2006/relationships/officeDocument" Target="/ppt/presentation.xml" Id="Re19c4cfa5c0943d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a814c8e8f84cac"/>
  </p:sldMasterIdLst>
  <p:notesMasterIdLst>
    <p:notesMasterId xmlns:r="http://schemas.openxmlformats.org/officeDocument/2006/relationships" r:id="Rd478cb77a942415d"/>
  </p:notesMasterIdLst>
  <p:sldIdLst>
    <p:sldId xmlns:r="http://schemas.openxmlformats.org/officeDocument/2006/relationships" id="256" r:id="Rb3a427ea91b141c5"/>
    <p:sldId xmlns:r="http://schemas.openxmlformats.org/officeDocument/2006/relationships" id="257" r:id="R153886bddd064873"/>
    <p:sldId xmlns:r="http://schemas.openxmlformats.org/officeDocument/2006/relationships" id="258" r:id="R3fd63954f8644f97"/>
    <p:sldId xmlns:r="http://schemas.openxmlformats.org/officeDocument/2006/relationships" id="259" r:id="R0850a83c645b41e8"/>
    <p:sldId xmlns:r="http://schemas.openxmlformats.org/officeDocument/2006/relationships" id="260" r:id="Ra30301e5dd0d46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5d026542994c81" /><Relationship Type="http://schemas.openxmlformats.org/officeDocument/2006/relationships/slideMaster" Target="/ppt/slideMasters/slideMaster1.xml" Id="Ra9a814c8e8f84cac" /><Relationship Type="http://schemas.openxmlformats.org/officeDocument/2006/relationships/notesMaster" Target="/ppt/notesMasters/notesMaster1.xml" Id="Rd478cb77a942415d" /><Relationship Type="http://schemas.openxmlformats.org/officeDocument/2006/relationships/presProps" Target="/ppt/presProps.xml" Id="Rfb5cac2549e843b2" /><Relationship Type="http://schemas.openxmlformats.org/officeDocument/2006/relationships/viewProps" Target="/ppt/viewProps.xml" Id="Ra02a0ee127a340a4" /><Relationship Type="http://schemas.openxmlformats.org/officeDocument/2006/relationships/tableStyles" Target="/ppt/tableStyles.xml" Id="R628e2430d7994e80" /><Relationship Type="http://schemas.openxmlformats.org/officeDocument/2006/relationships/slide" Target="/ppt/slides/slide1.xml" Id="Rb3a427ea91b141c5" /><Relationship Type="http://schemas.openxmlformats.org/officeDocument/2006/relationships/slide" Target="/ppt/slides/slide2.xml" Id="R153886bddd064873" /><Relationship Type="http://schemas.openxmlformats.org/officeDocument/2006/relationships/slide" Target="/ppt/slides/slide3.xml" Id="R3fd63954f8644f97" /><Relationship Type="http://schemas.openxmlformats.org/officeDocument/2006/relationships/slide" Target="/ppt/slides/slide4.xml" Id="R0850a83c645b41e8" /><Relationship Type="http://schemas.openxmlformats.org/officeDocument/2006/relationships/slide" Target="/ppt/slides/slide5.xml" Id="Ra30301e5dd0d46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6cce435eb348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215bce1d7c42c5" /><Relationship Type="http://schemas.openxmlformats.org/officeDocument/2006/relationships/notesMaster" Target="/ppt/notesMasters/notesMaster1.xml" Id="Rfb8358769e7145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2ff181dab140f0" /><Relationship Type="http://schemas.openxmlformats.org/officeDocument/2006/relationships/notesMaster" Target="/ppt/notesMasters/notesMaster1.xml" Id="Ra0f21069e9e949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2a9c975d66459b" /><Relationship Type="http://schemas.openxmlformats.org/officeDocument/2006/relationships/notesMaster" Target="/ppt/notesMasters/notesMaster1.xml" Id="Rb9d4b90b398044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7c5b5da8e54724" /><Relationship Type="http://schemas.openxmlformats.org/officeDocument/2006/relationships/notesMaster" Target="/ppt/notesMasters/notesMaster1.xml" Id="R7afe7b803bc246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3a7c9d052e4a39" /><Relationship Type="http://schemas.openxmlformats.org/officeDocument/2006/relationships/notesMaster" Target="/ppt/notesMasters/notesMaster1.xml" Id="R7dc99327f5eb464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SecureMailScope.txt and Crypterpillars_Software_SIH26159.pdf in the supplied project. Team ID was not present in supplied project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README.md; backend/app/core/pipeline.py; backend/app/core/rule_engine.py. Passive demonstrative assessment. No email decryption or production forensic assurance.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Illustration generated using built-in ImageGen: four-stage navy/teal/copper workflow showing capture files, email reconstruction, security inspection and report. Source asset: tmp/ppt-build/workflow-illustration.png. Sources: README.md Architecture; backend/app/core; src/CaptureWorkspace.tsx. XGBoost exists as a challenger, not presented as the primary classifier.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Source: README.md Validation and Evidence boundaries. Benefits are expected, not measured. Synthetic ML evaluation does not establish real-world accuracy. Future validation should include representative real captures.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Sources: existing project screenshots tmp/video/workspace.png and tmp/video/session.png. These show the constructed cleartext_auth.pcap fixture, not live production traffic.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4f0b5f4f7040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f1698ed924d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f12b98b334d9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f95d78823e470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b84968ddd40d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0f21430c7a412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b2701c59e848f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61a23a57643c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be5601795f45f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757970c14a492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9deed0ce94ec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D032AC-D5DD-48DF-AEED-B55369CACA7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AF86829-9CDF-4996-A83C-9F68581D17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E16F013-6B6E-4600-9A3F-8BF5D33768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6E4E02-FC70-4D18-B604-06FDE1E2B3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71825B2-A269-4F50-A0CF-BF76C4B627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CE68C3-03DC-433D-B9C8-EEA0F6643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DC89E46-F51B-401E-B68C-72584F7209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54AA61-AC7F-4488-8B7A-C2BA82E939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361DC93-A7C2-4F08-A5D7-CE0F7180359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7453A76-3A78-465A-9B58-978322453A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73459A-3709-475A-9461-47BDC5792A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3B8ECA8-E845-40C1-A88E-B9E9AEF7A9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99149A7-27D6-471F-8F25-7908E807CE4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DB936B-F6C9-4A59-B864-920E1B5672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CF8B1D-597C-4390-BA11-CC21B1E4E3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7642E23-09E6-48AB-AEC2-694D83EFA8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8729FCF-6422-477F-9441-CDA42586106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E479FC1-3EAB-4E23-813C-238B9A2A83B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72E3D0C-AF47-44E6-8281-CE2A02F7B5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34651F-221F-4A81-B6D2-5700558183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3659D6F-4AE6-48B2-8C2F-301A6D2CA0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C4FB36-289F-484B-A5EE-76EEBB2E2D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3D3AACC-A07B-4316-AF6A-7F3C213E2A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2F7EC6B-9FE1-4531-968A-FADF3C23FEC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FE9E9E9C-7365-4B9C-8D3F-CA2E3F8FF04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63A31FB-CA54-4395-8D60-CCAD37BB8A9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B513FE-DF7A-45A9-B1B0-769DC1A4D3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39D5E04-0B72-4482-A35D-BD9616C28E2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9C5F0A-EF0A-4EB4-9328-B3D6486C8A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7E84DF-CA24-44B2-89F5-5DF21DD5E6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A0179A-DE99-4A1F-B736-B1E2B90D62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A54417-9ABB-4CF6-A1D9-AF3FDF7C06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BD83C9-A6D2-4A45-8EDF-1208A4C639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0153E67-DCDB-4DBA-87AD-0911212D0B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DD1BDEB-BEA5-45AE-A24C-931A199CCA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EB65585-C9AF-4C42-9EF9-8B2F0C246B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582EDA-01FE-4F52-84DA-FDD4AC11B4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636C5FD-ECFD-4ABE-AB36-846C6812474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6262A9-0DA0-4CED-AD44-E9BCCE251CE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4B77EBC-5B5B-4945-9293-1A8879D2627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30FED3-3E58-4AD6-BDAB-95624FAC6CB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F62A3C-C34B-43EB-B4C0-20AF3F5BDF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DB6E3B0-2523-4798-9E81-D2BAF75C6D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96B944AB-46B9-4C38-9BA4-C0DAD6E811D6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B91A35D-874F-40D7-A667-032491FCE0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ABEA899-CEB1-4549-A549-371306DC7C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6438F16-F02E-46E2-A90E-4340C38DFD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03E15A1-70FE-466A-881C-393DF7A290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B273D2-1BC8-4B03-80C4-DD749181AC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006F013-57B9-4594-BFD4-027EDC81CB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A5BD08-81A5-46EC-BA43-173E2FA93D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6C553A-B0AD-42FE-B6C9-8815841414F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752ED10-3352-4EC2-8BE4-0149F93E4B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4BFA8A0-0886-4953-B7E5-A9E98A9098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BD382B-5875-43D8-9D5E-685A7B1D5B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A0CAC58-5610-445E-9360-C733B3AB0D2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67C6FB-B5BD-4DD2-873E-03378701FB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955EDE-9E9B-4A61-B007-5CE9A7D96D6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d8559fe1b8a4992" /><Relationship Type="http://schemas.openxmlformats.org/officeDocument/2006/relationships/slideLayout" Target="/ppt/slideLayouts/slideLayout1.xml" Id="Rc195e16172f34f29" /><Relationship Type="http://schemas.openxmlformats.org/officeDocument/2006/relationships/slideLayout" Target="/ppt/slideLayouts/slideLayout2.xml" Id="R6beb424a62b34c9f" /><Relationship Type="http://schemas.openxmlformats.org/officeDocument/2006/relationships/slideLayout" Target="/ppt/slideLayouts/slideLayout3.xml" Id="R78d2ae078a6e44e0" /><Relationship Type="http://schemas.openxmlformats.org/officeDocument/2006/relationships/slideLayout" Target="/ppt/slideLayouts/slideLayout4.xml" Id="R4823c424480948bb" /><Relationship Type="http://schemas.openxmlformats.org/officeDocument/2006/relationships/slideLayout" Target="/ppt/slideLayouts/slideLayout5.xml" Id="Rab9c539e727e47c6" /><Relationship Type="http://schemas.openxmlformats.org/officeDocument/2006/relationships/slideLayout" Target="/ppt/slideLayouts/slideLayout6.xml" Id="R21bf396748b94e5c" /><Relationship Type="http://schemas.openxmlformats.org/officeDocument/2006/relationships/slideLayout" Target="/ppt/slideLayouts/slideLayout7.xml" Id="R4744d7784ec445e9" /><Relationship Type="http://schemas.openxmlformats.org/officeDocument/2006/relationships/slideLayout" Target="/ppt/slideLayouts/slideLayout8.xml" Id="R91bbdd8296b642e0" /><Relationship Type="http://schemas.openxmlformats.org/officeDocument/2006/relationships/slideLayout" Target="/ppt/slideLayouts/slideLayout9.xml" Id="R9126d73bf9b141d1" /><Relationship Type="http://schemas.openxmlformats.org/officeDocument/2006/relationships/slideLayout" Target="/ppt/slideLayouts/slideLayout10.xml" Id="R465d87fcfa8b44e3" /><Relationship Type="http://schemas.openxmlformats.org/officeDocument/2006/relationships/slideLayout" Target="/ppt/slideLayouts/slideLayout11.xml" Id="R2c02bd9c35ff43b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542E7D3-BCFC-4906-B705-DB589CBF43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7028432-58BE-4CA8-9DCE-17C973C86F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C748A89-3674-44C5-B431-5601F14A9E7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E313434-1346-4BD9-92D8-B6822001C4F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DCFEA11-AE7F-4049-8420-01B8DCF88A9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95e16172f34f29"/>
    <p:sldLayoutId xmlns:r="http://schemas.openxmlformats.org/officeDocument/2006/relationships" id="2147483650" r:id="R6beb424a62b34c9f"/>
    <p:sldLayoutId xmlns:r="http://schemas.openxmlformats.org/officeDocument/2006/relationships" id="2147483651" r:id="R78d2ae078a6e44e0"/>
    <p:sldLayoutId xmlns:r="http://schemas.openxmlformats.org/officeDocument/2006/relationships" id="2147483652" r:id="R4823c424480948bb"/>
    <p:sldLayoutId xmlns:r="http://schemas.openxmlformats.org/officeDocument/2006/relationships" id="2147483653" r:id="Rab9c539e727e47c6"/>
    <p:sldLayoutId xmlns:r="http://schemas.openxmlformats.org/officeDocument/2006/relationships" id="2147483654" r:id="R21bf396748b94e5c"/>
    <p:sldLayoutId xmlns:r="http://schemas.openxmlformats.org/officeDocument/2006/relationships" id="2147483655" r:id="R4744d7784ec445e9"/>
    <p:sldLayoutId xmlns:r="http://schemas.openxmlformats.org/officeDocument/2006/relationships" id="2147483656" r:id="R91bbdd8296b642e0"/>
    <p:sldLayoutId xmlns:r="http://schemas.openxmlformats.org/officeDocument/2006/relationships" id="2147483657" r:id="R9126d73bf9b141d1"/>
    <p:sldLayoutId xmlns:r="http://schemas.openxmlformats.org/officeDocument/2006/relationships" id="2147483658" r:id="R465d87fcfa8b44e3"/>
    <p:sldLayoutId xmlns:r="http://schemas.openxmlformats.org/officeDocument/2006/relationships" id="2147483659" r:id="R2c02bd9c35ff43b8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4728675414051" /><Relationship Type="http://schemas.openxmlformats.org/officeDocument/2006/relationships/image" Target="/ppt/media/image.png" Id="Rf7abea4b2df340e3" /><Relationship Type="http://schemas.openxmlformats.org/officeDocument/2006/relationships/image" Target="/ppt/media/image2.png" Id="Rb8f3f8eb58424bb8" /><Relationship Type="http://schemas.openxmlformats.org/officeDocument/2006/relationships/notesSlide" Target="/ppt/notesSlides/notesSlide1.xml" Id="R193a15f9ceb540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8b9fdedd204128" /><Relationship Type="http://schemas.openxmlformats.org/officeDocument/2006/relationships/image" Target="/ppt/media/image2.png" Id="R0a9ae71cc29a4e25" /><Relationship Type="http://schemas.openxmlformats.org/officeDocument/2006/relationships/image" Target="/ppt/media/image3.png" Id="Ra3c73a0b0d5942c2" /><Relationship Type="http://schemas.openxmlformats.org/officeDocument/2006/relationships/notesSlide" Target="/ppt/notesSlides/notesSlide2.xml" Id="R675352f8a90648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df55c7e80346ba" /><Relationship Type="http://schemas.openxmlformats.org/officeDocument/2006/relationships/image" Target="/ppt/media/image2.png" Id="R548e031ff6144ca4" /><Relationship Type="http://schemas.openxmlformats.org/officeDocument/2006/relationships/image" Target="/ppt/media/image4.png" Id="Rf67692e913d843eb" /><Relationship Type="http://schemas.openxmlformats.org/officeDocument/2006/relationships/notesSlide" Target="/ppt/notesSlides/notesSlide3.xml" Id="Rc2be074e2ac14d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43d0418b72342fc" /><Relationship Type="http://schemas.openxmlformats.org/officeDocument/2006/relationships/image" Target="/ppt/media/image2.png" Id="Rd178dfcac0d246c7" /><Relationship Type="http://schemas.openxmlformats.org/officeDocument/2006/relationships/notesSlide" Target="/ppt/notesSlides/notesSlide4.xml" Id="R6d7a0392576148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626d1686ca45a3" /><Relationship Type="http://schemas.openxmlformats.org/officeDocument/2006/relationships/image" Target="/ppt/media/image2.png" Id="Rf66b1653c42e4701" /><Relationship Type="http://schemas.openxmlformats.org/officeDocument/2006/relationships/image" Target="/ppt/media/image5.png" Id="R622e48129e554dec" /><Relationship Type="http://schemas.openxmlformats.org/officeDocument/2006/relationships/image" Target="/ppt/media/image6.png" Id="R70c6063a3e7d4c44" /><Relationship Type="http://schemas.openxmlformats.org/officeDocument/2006/relationships/notesSlide" Target="/ppt/notesSlides/notesSlide5.xml" Id="R9817d5abf36c40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9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abea4b2df340e3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pic>
        <p:nvPicPr>
          <p:cNvPr id="5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f3f8eb58424b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69D226-FABC-427E-AB83-5B1F4149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14300"/>
            <a:ext cx="9286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0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675" b="0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rPr>
              <a:t>SMART INDIA HACKATHON 2026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DD3A6E-BC5A-40A6-9245-03313031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52550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98B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200" b="1">
                <a:solidFill>
                  <a:srgbClr val="198B88"/>
                </a:solidFill>
                <a:latin typeface="Times New Roman"/>
                <a:ea typeface="Times New Roman"/>
                <a:cs typeface="Times New Roman"/>
              </a:rPr>
              <a:t>SecureMailScope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AC2077-C8A7-400F-9B26-24483492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6000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AI-Assisted Cryptographic Security</a:t>
            </a:r>
          </a:p>
          <a:p xmlns:a="http://schemas.openxmlformats.org/drawingml/2006/main">
            <a:pPr algn="l">
              <a:defRPr sz="21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Posture Assessment for Secure</a:t>
            </a:r>
          </a:p>
          <a:p xmlns:a="http://schemas.openxmlformats.org/drawingml/2006/main">
            <a:pPr algn="l">
              <a:defRPr sz="21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Email Communications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F06FF1-5CDA-4C72-BF5E-87585BE9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33800"/>
            <a:ext cx="600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76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763E"/>
                </a:solidFill>
                <a:latin typeface="Arial"/>
                <a:ea typeface="Arial"/>
                <a:cs typeface="Arial"/>
              </a:rPr>
              <a:t>PROBLEM STATEMENT 26159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A5BE43-B330-451D-9EEB-B8BE4C59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Blockchain &amp; Cybersecurity / Software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F47125-1E1F-4FAE-838B-3671D0C4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72050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33E87F6-E66D-46F0-A7AE-F7DF7E51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Team ID: To be added</a:t>
            </a:r>
          </a:p>
        </p:txBody>
      </p:sp>
    </p:spTree>
    <p:extLst>
      <p:ext uri="{BB962C8B-B14F-4D97-AF65-F5344CB8AC3E}">
        <p14:creationId xmlns:p14="http://schemas.microsoft.com/office/powerpoint/2010/main" val="1764156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9237E20-C699-4167-8CA6-8ABEA210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F59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9050">
            <a:solidFill>
              <a:srgbClr val="198B88"/>
            </a:solidFill>
          </a:ln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537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9ae71cc29a4e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">
            <a:extLst xmlns:a="http://schemas.openxmlformats.org/drawingml/2006/main">
              <a:ext uri="{FF2B5EF4-FFF2-40B4-BE49-F238E27FC236}">
                <a16:creationId xmlns:a16="http://schemas.microsoft.com/office/drawing/2014/main" id="{8F950723-131D-45FE-99B4-87BF0616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15365" name="">
            <a:extLst xmlns:a="http://schemas.openxmlformats.org/drawingml/2006/main">
              <a:ext uri="{FF2B5EF4-FFF2-40B4-BE49-F238E27FC236}">
                <a16:creationId xmlns:a16="http://schemas.microsoft.com/office/drawing/2014/main" id="{E7715641-8F1F-4FA7-837F-C1BBAFF94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rPr>
              <a:t>PROPOSED SOLUTION</a:t>
            </a:r>
          </a:p>
        </p:txBody>
      </p:sp>
      <p:sp>
        <p:nvSpPr>
          <p:cNvPr id="15366" name="">
            <a:extLst xmlns:a="http://schemas.openxmlformats.org/drawingml/2006/main">
              <a:ext uri="{FF2B5EF4-FFF2-40B4-BE49-F238E27FC236}">
                <a16:creationId xmlns:a16="http://schemas.microsoft.com/office/drawing/2014/main" id="{3FEAC75C-4067-40E9-A72B-4B1DF93F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SecureMailScope / SIH 2026</a:t>
            </a:r>
          </a:p>
        </p:txBody>
      </p:sp>
      <p:sp>
        <p:nvSpPr>
          <p:cNvPr id="15367" name="">
            <a:extLst xmlns:a="http://schemas.openxmlformats.org/drawingml/2006/main">
              <a:ext uri="{FF2B5EF4-FFF2-40B4-BE49-F238E27FC236}">
                <a16:creationId xmlns:a16="http://schemas.microsoft.com/office/drawing/2014/main" id="{043256AC-CF44-428B-92F9-AD66A923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368" name="">
            <a:extLst xmlns:a="http://schemas.openxmlformats.org/drawingml/2006/main">
              <a:ext uri="{FF2B5EF4-FFF2-40B4-BE49-F238E27FC236}">
                <a16:creationId xmlns:a16="http://schemas.microsoft.com/office/drawing/2014/main" id="{F519C8CA-2E59-413A-B91B-FA250217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76375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C8763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763E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15369" name="">
            <a:extLst xmlns:a="http://schemas.openxmlformats.org/drawingml/2006/main">
              <a:ext uri="{FF2B5EF4-FFF2-40B4-BE49-F238E27FC236}">
                <a16:creationId xmlns:a16="http://schemas.microsoft.com/office/drawing/2014/main" id="{43C27672-27E4-408D-BA11-27AA4011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4310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Email services may use weak settings,</a:t>
            </a:r>
          </a:p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fail TLS upgrades or expose authentication.</a:t>
            </a:r>
          </a:p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Packet review takes expertise.</a:t>
            </a:r>
          </a:p>
        </p:txBody>
      </p:sp>
      <p:sp>
        <p:nvSpPr>
          <p:cNvPr id="15370" name="">
            <a:extLst xmlns:a="http://schemas.openxmlformats.org/drawingml/2006/main">
              <a:ext uri="{FF2B5EF4-FFF2-40B4-BE49-F238E27FC236}">
                <a16:creationId xmlns:a16="http://schemas.microsoft.com/office/drawing/2014/main" id="{5B9EFCE3-F1DE-426D-BC90-6EF7F8D2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1470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The solution</a:t>
            </a:r>
          </a:p>
        </p:txBody>
      </p:sp>
      <p:sp>
        <p:nvSpPr>
          <p:cNvPr id="15371" name="">
            <a:extLst xmlns:a="http://schemas.openxmlformats.org/drawingml/2006/main">
              <a:ext uri="{FF2B5EF4-FFF2-40B4-BE49-F238E27FC236}">
                <a16:creationId xmlns:a16="http://schemas.microsoft.com/office/drawing/2014/main" id="{5F8D8EB0-4041-4BB0-9FEF-02842FC0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Upload a capture. Reconstruct email</a:t>
            </a:r>
          </a:p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sessions and assess the cryptographic</a:t>
            </a:r>
          </a:p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evidence in one analyst workspace.</a:t>
            </a:r>
          </a:p>
        </p:txBody>
      </p:sp>
      <p:pic>
        <p:nvPicPr>
          <p:cNvPr id="153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73a0b0d5942c2"/>
          <a:stretch xmlns:a="http://schemas.openxmlformats.org/drawingml/2006/main"/>
        </p:blipFill>
        <p:spPr>
          <a:xfrm xmlns:a="http://schemas.openxmlformats.org/drawingml/2006/main">
            <a:off x="6172200" y="1638300"/>
            <a:ext cx="5476875" cy="2738438"/>
          </a:xfrm>
          <a:prstGeom xmlns:a="http://schemas.openxmlformats.org/drawingml/2006/main" prst="rect">
            <a:avLst/>
          </a:prstGeom>
        </p:spPr>
      </p:pic>
      <p:sp>
        <p:nvSpPr>
          <p:cNvPr id="15373" name="">
            <a:extLst xmlns:a="http://schemas.openxmlformats.org/drawingml/2006/main">
              <a:ext uri="{FF2B5EF4-FFF2-40B4-BE49-F238E27FC236}">
                <a16:creationId xmlns:a16="http://schemas.microsoft.com/office/drawing/2014/main" id="{AABA8254-8EDF-411F-BA56-588210D0E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5476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Evidence behind every finding</a:t>
            </a:r>
          </a:p>
        </p:txBody>
      </p:sp>
      <p:sp>
        <p:nvSpPr>
          <p:cNvPr id="15374" name="">
            <a:extLst xmlns:a="http://schemas.openxmlformats.org/drawingml/2006/main">
              <a:ext uri="{FF2B5EF4-FFF2-40B4-BE49-F238E27FC236}">
                <a16:creationId xmlns:a16="http://schemas.microsoft.com/office/drawing/2014/main" id="{96D29E00-3DC8-434E-9A2E-48A18DFF5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10150"/>
            <a:ext cx="54768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Packet frames, prioritized fixes and</a:t>
            </a:r>
          </a:p>
          <a:p xmlns:a="http://schemas.openxmlformats.org/drawingml/2006/main">
            <a:pPr algn="l">
              <a:defRPr sz="18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separately labeled ML signals.</a:t>
            </a:r>
          </a:p>
        </p:txBody>
      </p:sp>
      <p:sp>
        <p:nvSpPr>
          <p:cNvPr id="15375" name="">
            <a:extLst xmlns:a="http://schemas.openxmlformats.org/drawingml/2006/main">
              <a:ext uri="{FF2B5EF4-FFF2-40B4-BE49-F238E27FC236}">
                <a16:creationId xmlns:a16="http://schemas.microsoft.com/office/drawing/2014/main" id="{42D94E17-A042-497E-AC5A-6E513496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5286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SMTP / IMAP / POP3</a:t>
            </a:r>
          </a:p>
        </p:txBody>
      </p:sp>
    </p:spTree>
    <p:extLst>
      <p:ext uri="{BB962C8B-B14F-4D97-AF65-F5344CB8AC3E}">
        <p14:creationId xmlns:p14="http://schemas.microsoft.com/office/powerpoint/2010/main" val="6636122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F59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9050">
            <a:solidFill>
              <a:srgbClr val="198B88"/>
            </a:solidFill>
          </a:ln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742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e031ff6144c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93321851-34F5-4482-8D4C-252326E5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10AE61DD-F45C-4631-88EA-B4EC2A7C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090D6C53-B1ED-4B93-B3D7-63F7679F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SecureMailScope / SIH 2026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59097FC4-B4B1-416C-A04A-DBA17F5D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pic>
        <p:nvPicPr>
          <p:cNvPr id="174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692e913d843eb"/>
          <a:stretch xmlns:a="http://schemas.openxmlformats.org/drawingml/2006/main"/>
        </p:blipFill>
        <p:spPr>
          <a:xfrm xmlns:a="http://schemas.openxmlformats.org/drawingml/2006/main">
            <a:off x="500634" y="1409700"/>
            <a:ext cx="11190732" cy="2667000"/>
          </a:xfrm>
          <a:prstGeom xmlns:a="http://schemas.openxmlformats.org/drawingml/2006/main" prst="rect">
            <a:avLst/>
          </a:prstGeom>
        </p:spPr>
      </p:pic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449687EC-ACA7-4FAF-8D42-096F51AE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03860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01  Capture intake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DBF3B3CC-C6A6-4090-B1F7-F402FB84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4533900"/>
            <a:ext cx="2771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Validate PCAP/PCAPNG.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Extract packets and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retain the SHA-256.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33582175-A0DE-467B-A9DB-D63BECDD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3860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02  Reconstruction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AFB567D2-0375-4510-B2F1-E94E74B45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33900"/>
            <a:ext cx="2771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Reassemble TCP.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Track SMTP, IMAP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and POP3 sessions.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1B107E32-25C1-4685-84CD-6CFE25BF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3860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763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8763E"/>
                </a:solidFill>
                <a:latin typeface="Arial"/>
                <a:ea typeface="Arial"/>
                <a:cs typeface="Arial"/>
              </a:rPr>
              <a:t>03  Assessment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0747B40E-8075-4B87-8637-5AC56A3DD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33900"/>
            <a:ext cx="2771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Check TLS and certificates.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Apply rules and separate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ML risk signals.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8AD8B2BD-BB54-43C4-9FA3-69A52F42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38600"/>
            <a:ext cx="2838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04  Analyst output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ACE96270-F70F-485A-AC55-F7487F5A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33900"/>
            <a:ext cx="27717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Review frame evidence.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Export JSON, HTML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and PDF reports.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553F0B52-76FE-4BCD-8071-477F338C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29275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3F59"/>
                </a:solidFill>
                <a:latin typeface="Arial"/>
                <a:ea typeface="Arial"/>
                <a:cs typeface="Arial"/>
              </a:rPr>
              <a:t>React + TypeScript / FastAPI + Python / TShark + Scapy / SQLite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8EBA6ABD-522F-429F-87FE-3C88C73C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1114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98B88"/>
                </a:solidFill>
                <a:latin typeface="Arial"/>
                <a:ea typeface="Arial"/>
                <a:cs typeface="Arial"/>
              </a:rPr>
              <a:t>Random Forest risk classification / Isolation Forest anomaly detection</a:t>
            </a:r>
          </a:p>
        </p:txBody>
      </p:sp>
    </p:spTree>
    <p:extLst>
      <p:ext uri="{BB962C8B-B14F-4D97-AF65-F5344CB8AC3E}">
        <p14:creationId xmlns:p14="http://schemas.microsoft.com/office/powerpoint/2010/main" val="19431722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F59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9050">
            <a:solidFill>
              <a:srgbClr val="198B88"/>
            </a:solidFill>
          </a:ln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743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8dfcac0d246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B44902F2-79BA-4272-A70C-8EC57195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0B5A8E81-9A14-4B17-B2F9-905FD49E5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rPr>
              <a:t>FEASIBILITY AND BENEFITS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A9B6EDA5-5010-4E3D-9924-BE231886B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SecureMailScope / SIH 2026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00FB0C67-285B-4C1A-9E93-6A5F4AB7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62BE0BB2-084B-4233-BFE1-AA75A799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00175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198B8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175" b="1">
                <a:solidFill>
                  <a:srgbClr val="198B88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17417" name="">
            <a:extLst xmlns:a="http://schemas.openxmlformats.org/drawingml/2006/main">
              <a:ext uri="{FF2B5EF4-FFF2-40B4-BE49-F238E27FC236}">
                <a16:creationId xmlns:a16="http://schemas.microsoft.com/office/drawing/2014/main" id="{8294BB3A-4A8C-4E83-99E9-1EC2C9A9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Working prototype</a:t>
            </a:r>
          </a:p>
        </p:txBody>
      </p:sp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4FA6967E-C43B-4D86-8BA0-F7097B13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3495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Local analysis and reports</a:t>
            </a:r>
          </a:p>
        </p:txBody>
      </p:sp>
      <p:sp>
        <p:nvSpPr>
          <p:cNvPr id="17419" name="">
            <a:extLst xmlns:a="http://schemas.openxmlformats.org/drawingml/2006/main">
              <a:ext uri="{FF2B5EF4-FFF2-40B4-BE49-F238E27FC236}">
                <a16:creationId xmlns:a16="http://schemas.microsoft.com/office/drawing/2014/main" id="{CE7DFE17-A973-4000-BCA9-0475244E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Upload captures, inspect findings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and download analyst reports.</a:t>
            </a:r>
          </a:p>
        </p:txBody>
      </p:sp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305004E7-9D90-48D6-A669-D15EA995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52950"/>
            <a:ext cx="3495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Repeatable validation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9D18748F-4795-4891-83B2-B2674C04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72050"/>
            <a:ext cx="3495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Synthetic fixtures exercise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cleartext auth, weak TLS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and certificate faults.</a:t>
            </a:r>
          </a:p>
        </p:txBody>
      </p:sp>
      <p:sp>
        <p:nvSpPr>
          <p:cNvPr id="17422" name="">
            <a:extLst xmlns:a="http://schemas.openxmlformats.org/drawingml/2006/main">
              <a:ext uri="{FF2B5EF4-FFF2-40B4-BE49-F238E27FC236}">
                <a16:creationId xmlns:a16="http://schemas.microsoft.com/office/drawing/2014/main" id="{D0D55A75-7262-405E-A115-1158D311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00175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C8763E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175" b="1">
                <a:solidFill>
                  <a:srgbClr val="C8763E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17423" name="">
            <a:extLst xmlns:a="http://schemas.openxmlformats.org/drawingml/2006/main">
              <a:ext uri="{FF2B5EF4-FFF2-40B4-BE49-F238E27FC236}">
                <a16:creationId xmlns:a16="http://schemas.microsoft.com/office/drawing/2014/main" id="{D81D4DD4-24D7-475E-B0B1-A473EA958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52675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C8763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8763E"/>
                </a:solidFill>
                <a:latin typeface="Arial"/>
                <a:ea typeface="Arial"/>
                <a:cs typeface="Arial"/>
              </a:rPr>
              <a:t>Evidence limits</a:t>
            </a:r>
          </a:p>
        </p:txBody>
      </p:sp>
      <p:sp>
        <p:nvSpPr>
          <p:cNvPr id="17424" name="">
            <a:extLst xmlns:a="http://schemas.openxmlformats.org/drawingml/2006/main">
              <a:ext uri="{FF2B5EF4-FFF2-40B4-BE49-F238E27FC236}">
                <a16:creationId xmlns:a16="http://schemas.microsoft.com/office/drawing/2014/main" id="{B300E6F4-A2CF-4C16-8844-F7A8030A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05150"/>
            <a:ext cx="3495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Encrypted or missing data</a:t>
            </a:r>
          </a:p>
        </p:txBody>
      </p:sp>
      <p:sp>
        <p:nvSpPr>
          <p:cNvPr id="17425" name="">
            <a:extLst xmlns:a="http://schemas.openxmlformats.org/drawingml/2006/main">
              <a:ext uri="{FF2B5EF4-FFF2-40B4-BE49-F238E27FC236}">
                <a16:creationId xmlns:a16="http://schemas.microsoft.com/office/drawing/2014/main" id="{50569C6A-AACB-4250-873B-4380800C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5242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TLS 1.3 hides certificates.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Partial captures leave gaps.</a:t>
            </a:r>
          </a:p>
        </p:txBody>
      </p:sp>
      <p:sp>
        <p:nvSpPr>
          <p:cNvPr id="17426" name="">
            <a:extLst xmlns:a="http://schemas.openxmlformats.org/drawingml/2006/main">
              <a:ext uri="{FF2B5EF4-FFF2-40B4-BE49-F238E27FC236}">
                <a16:creationId xmlns:a16="http://schemas.microsoft.com/office/drawing/2014/main" id="{F02C2CE5-D695-4F4B-8957-0E15AA29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52950"/>
            <a:ext cx="3495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Explicit uncertainty</a:t>
            </a:r>
          </a:p>
        </p:txBody>
      </p:sp>
      <p:sp>
        <p:nvSpPr>
          <p:cNvPr id="17427" name="">
            <a:extLst xmlns:a="http://schemas.openxmlformats.org/drawingml/2006/main">
              <a:ext uri="{FF2B5EF4-FFF2-40B4-BE49-F238E27FC236}">
                <a16:creationId xmlns:a16="http://schemas.microsoft.com/office/drawing/2014/main" id="{1F645106-DC3C-453C-ADCB-41E91108A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72050"/>
            <a:ext cx="3495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Mark unknowns and exclude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incomplete sessions. Validate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on representative real traffic.</a:t>
            </a:r>
          </a:p>
        </p:txBody>
      </p:sp>
      <p:sp>
        <p:nvSpPr>
          <p:cNvPr id="17428" name="">
            <a:extLst xmlns:a="http://schemas.openxmlformats.org/drawingml/2006/main">
              <a:ext uri="{FF2B5EF4-FFF2-40B4-BE49-F238E27FC236}">
                <a16:creationId xmlns:a16="http://schemas.microsoft.com/office/drawing/2014/main" id="{4FDB7356-2B70-4CE4-A9E9-9F7EFBC7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400175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517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517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17429" name="">
            <a:extLst xmlns:a="http://schemas.openxmlformats.org/drawingml/2006/main">
              <a:ext uri="{FF2B5EF4-FFF2-40B4-BE49-F238E27FC236}">
                <a16:creationId xmlns:a16="http://schemas.microsoft.com/office/drawing/2014/main" id="{7BE894D5-4DA3-48CD-BF58-CBC8C61F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52675"/>
            <a:ext cx="3486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Expected benefits</a:t>
            </a:r>
          </a:p>
        </p:txBody>
      </p:sp>
      <p:sp>
        <p:nvSpPr>
          <p:cNvPr id="17430" name="">
            <a:extLst xmlns:a="http://schemas.openxmlformats.org/drawingml/2006/main">
              <a:ext uri="{FF2B5EF4-FFF2-40B4-BE49-F238E27FC236}">
                <a16:creationId xmlns:a16="http://schemas.microsoft.com/office/drawing/2014/main" id="{FFE00444-4F0F-4349-8FBF-BB21352D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3495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More focused remediation</a:t>
            </a:r>
          </a:p>
        </p:txBody>
      </p:sp>
      <p:sp>
        <p:nvSpPr>
          <p:cNvPr id="17431" name="">
            <a:extLst xmlns:a="http://schemas.openxmlformats.org/drawingml/2006/main">
              <a:ext uri="{FF2B5EF4-FFF2-40B4-BE49-F238E27FC236}">
                <a16:creationId xmlns:a16="http://schemas.microsoft.com/office/drawing/2014/main" id="{ECB9F98B-DAB4-46F5-9090-676BF5CD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24250"/>
            <a:ext cx="34956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Help administrators and SOC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analysts prioritize fixes.</a:t>
            </a:r>
          </a:p>
        </p:txBody>
      </p:sp>
      <p:sp>
        <p:nvSpPr>
          <p:cNvPr id="17432" name="">
            <a:extLst xmlns:a="http://schemas.openxmlformats.org/drawingml/2006/main">
              <a:ext uri="{FF2B5EF4-FFF2-40B4-BE49-F238E27FC236}">
                <a16:creationId xmlns:a16="http://schemas.microsoft.com/office/drawing/2014/main" id="{30E5A4E7-2388-4EE0-952E-ED498A47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52950"/>
            <a:ext cx="34956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Less manual packet review</a:t>
            </a:r>
          </a:p>
        </p:txBody>
      </p:sp>
      <p:sp>
        <p:nvSpPr>
          <p:cNvPr id="17433" name="">
            <a:extLst xmlns:a="http://schemas.openxmlformats.org/drawingml/2006/main">
              <a:ext uri="{FF2B5EF4-FFF2-40B4-BE49-F238E27FC236}">
                <a16:creationId xmlns:a16="http://schemas.microsoft.com/office/drawing/2014/main" id="{FDEFDB97-1F37-4341-AF87-F86B8664A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72050"/>
            <a:ext cx="34956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Connect findings to frames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and redact credentials</a:t>
            </a:r>
          </a:p>
          <a:p xmlns:a="http://schemas.openxmlformats.org/drawingml/2006/main">
            <a:pPr algn="l">
              <a:defRPr sz="172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in exported evidence.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3F59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F5F3"/>
          </a:solidFill>
          <a:ln xmlns:a="http://schemas.openxmlformats.org/drawingml/2006/main" w="19050">
            <a:solidFill>
              <a:srgbClr val="198B88"/>
            </a:solidFill>
          </a:ln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  <p:pic>
        <p:nvPicPr>
          <p:cNvPr id="174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b1653c42e47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">
            <a:extLst xmlns:a="http://schemas.openxmlformats.org/drawingml/2006/main">
              <a:ext uri="{FF2B5EF4-FFF2-40B4-BE49-F238E27FC236}">
                <a16:creationId xmlns:a16="http://schemas.microsoft.com/office/drawing/2014/main" id="{A3750A60-2B34-4622-82AD-5FA628CD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57200"/>
            <a:ext cx="140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3F59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43F59"/>
                </a:solidFill>
                <a:latin typeface="Arial"/>
                <a:ea typeface="Arial"/>
                <a:cs typeface="Arial"/>
              </a:rPr>
              <a:t>Crypterpillars</a:t>
            </a:r>
          </a:p>
        </p:txBody>
      </p:sp>
      <p:sp>
        <p:nvSpPr>
          <p:cNvPr id="17413" name="">
            <a:extLst xmlns:a="http://schemas.openxmlformats.org/drawingml/2006/main">
              <a:ext uri="{FF2B5EF4-FFF2-40B4-BE49-F238E27FC236}">
                <a16:creationId xmlns:a16="http://schemas.microsoft.com/office/drawing/2014/main" id="{2FC8396D-3C3C-48AB-A94F-4AB517A6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47650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 b="1">
                <a:solidFill>
                  <a:srgbClr val="143F59"/>
                </a:solidFill>
                <a:latin typeface="Times New Roman"/>
                <a:ea typeface="Times New Roman"/>
                <a:cs typeface="Times New Roman"/>
              </a:rPr>
              <a:t>DEMONSTRATIVE WEB APP</a:t>
            </a:r>
          </a:p>
        </p:txBody>
      </p:sp>
      <p:sp>
        <p:nvSpPr>
          <p:cNvPr id="17414" name="">
            <a:extLst xmlns:a="http://schemas.openxmlformats.org/drawingml/2006/main">
              <a:ext uri="{FF2B5EF4-FFF2-40B4-BE49-F238E27FC236}">
                <a16:creationId xmlns:a16="http://schemas.microsoft.com/office/drawing/2014/main" id="{8E07B071-7992-4BDC-BC5E-ABADDE3A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6400800"/>
            <a:ext cx="320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SecureMailScope / SIH 2026</a:t>
            </a:r>
          </a:p>
        </p:txBody>
      </p:sp>
      <p:sp>
        <p:nvSpPr>
          <p:cNvPr id="17415" name="">
            <a:extLst xmlns:a="http://schemas.openxmlformats.org/drawingml/2006/main">
              <a:ext uri="{FF2B5EF4-FFF2-40B4-BE49-F238E27FC236}">
                <a16:creationId xmlns:a16="http://schemas.microsoft.com/office/drawing/2014/main" id="{F0D8E5BB-D5B2-4060-9454-287E09B8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7416" name="">
            <a:extLst xmlns:a="http://schemas.openxmlformats.org/drawingml/2006/main">
              <a:ext uri="{FF2B5EF4-FFF2-40B4-BE49-F238E27FC236}">
                <a16:creationId xmlns:a16="http://schemas.microsoft.com/office/drawing/2014/main" id="{6C9DD552-853E-481D-9936-659B7AC6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62075"/>
            <a:ext cx="676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01  Capture analysis overview</a:t>
            </a:r>
          </a:p>
        </p:txBody>
      </p:sp>
      <p:pic>
        <p:nvPicPr>
          <p:cNvPr id="174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2e48129e554dec"/>
          <a:stretch xmlns:a="http://schemas.openxmlformats.org/drawingml/2006/main"/>
        </p:blipFill>
        <p:spPr>
          <a:xfrm xmlns:a="http://schemas.openxmlformats.org/drawingml/2006/main">
            <a:off x="457200" y="1914525"/>
            <a:ext cx="6762750" cy="3381375"/>
          </a:xfrm>
          <a:prstGeom xmlns:a="http://schemas.openxmlformats.org/drawingml/2006/main" prst="rect">
            <a:avLst/>
          </a:prstGeom>
        </p:spPr>
      </p:pic>
      <p:sp>
        <p:nvSpPr>
          <p:cNvPr id="17418" name="">
            <a:extLst xmlns:a="http://schemas.openxmlformats.org/drawingml/2006/main">
              <a:ext uri="{FF2B5EF4-FFF2-40B4-BE49-F238E27FC236}">
                <a16:creationId xmlns:a16="http://schemas.microsoft.com/office/drawing/2014/main" id="{E4CAE901-1686-4F89-A92D-E994A9DE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362075"/>
            <a:ext cx="4143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C8763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8763E"/>
                </a:solidFill>
                <a:latin typeface="Arial"/>
                <a:ea typeface="Arial"/>
                <a:cs typeface="Arial"/>
              </a:rPr>
              <a:t>02  Evidence and remediation</a:t>
            </a:r>
          </a:p>
        </p:txBody>
      </p:sp>
      <p:pic>
        <p:nvPicPr>
          <p:cNvPr id="174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6063a3e7d4c44"/>
          <a:stretch xmlns:a="http://schemas.openxmlformats.org/drawingml/2006/main"/>
        </p:blipFill>
        <p:spPr>
          <a:xfrm xmlns:a="http://schemas.openxmlformats.org/drawingml/2006/main">
            <a:off x="7829550" y="1914525"/>
            <a:ext cx="3667125" cy="4191000"/>
          </a:xfrm>
          <a:prstGeom xmlns:a="http://schemas.openxmlformats.org/drawingml/2006/main" prst="rect">
            <a:avLst/>
          </a:prstGeom>
        </p:spPr>
      </p:pic>
      <p:sp>
        <p:nvSpPr>
          <p:cNvPr id="17420" name="">
            <a:extLst xmlns:a="http://schemas.openxmlformats.org/drawingml/2006/main">
              <a:ext uri="{FF2B5EF4-FFF2-40B4-BE49-F238E27FC236}">
                <a16:creationId xmlns:a16="http://schemas.microsoft.com/office/drawing/2014/main" id="{695594F8-5C3C-40FE-ADDF-24808840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57825"/>
            <a:ext cx="6762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98B8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8B88"/>
                </a:solidFill>
                <a:latin typeface="Arial"/>
                <a:ea typeface="Arial"/>
                <a:cs typeface="Arial"/>
              </a:rPr>
              <a:t>Real app screens. Synthetic demo capture.</a:t>
            </a:r>
          </a:p>
        </p:txBody>
      </p:sp>
      <p:sp>
        <p:nvSpPr>
          <p:cNvPr id="17421" name="">
            <a:extLst xmlns:a="http://schemas.openxmlformats.org/drawingml/2006/main">
              <a:ext uri="{FF2B5EF4-FFF2-40B4-BE49-F238E27FC236}">
                <a16:creationId xmlns:a16="http://schemas.microsoft.com/office/drawing/2014/main" id="{E21FE3DB-EB8F-4EC2-9F25-DFD9889B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33B4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33B48"/>
                </a:solidFill>
                <a:latin typeface="Arial"/>
                <a:ea typeface="Arial"/>
                <a:cs typeface="Arial"/>
              </a:rPr>
              <a:t>Frame evidence and separate ML signals in the same workflow.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2026-09-27T12:31:50.2820000Z</dcterms:created>
  <dcterms:modified xsi:type="dcterms:W3CDTF">2026-09-27T12:31:50.2820000Z</dcterms:modified>
</coreProperties>
</file>