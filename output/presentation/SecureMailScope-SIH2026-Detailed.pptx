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69eeaf51d1d4887" /><Relationship Type="http://schemas.openxmlformats.org/officeDocument/2006/relationships/extended-properties" Target="/docProps/app.xml" Id="Rea44e66b21d249f1" /><Relationship Type="http://schemas.openxmlformats.org/officeDocument/2006/relationships/officeDocument" Target="/ppt/presentation.xml" Id="R96c42055d59747e0" /></Relationships>
</file>

<file path=ppt/presentation.xml><?xml version="1.0" encoding="utf-8"?>
<p:presentation xmlns:p="http://schemas.openxmlformats.org/presentationml/2006/main">
  <p:sldMasterIdLst>
    <p:sldMasterId xmlns:r="http://schemas.openxmlformats.org/officeDocument/2006/relationships" id="2147483648" r:id="R44688c9b3b794c66"/>
  </p:sldMasterIdLst>
  <p:notesMasterIdLst>
    <p:notesMasterId xmlns:r="http://schemas.openxmlformats.org/officeDocument/2006/relationships" r:id="R6cdf9f90b8dd4c9b"/>
  </p:notesMasterIdLst>
  <p:sldIdLst>
    <p:sldId xmlns:r="http://schemas.openxmlformats.org/officeDocument/2006/relationships" id="256" r:id="R18cb899a00e6497b"/>
    <p:sldId xmlns:r="http://schemas.openxmlformats.org/officeDocument/2006/relationships" id="257" r:id="Re4f413dd8ec7408d"/>
    <p:sldId xmlns:r="http://schemas.openxmlformats.org/officeDocument/2006/relationships" id="258" r:id="R353811d2d33f42cc"/>
    <p:sldId xmlns:r="http://schemas.openxmlformats.org/officeDocument/2006/relationships" id="259" r:id="Rb72910ab5672411d"/>
    <p:sldId xmlns:r="http://schemas.openxmlformats.org/officeDocument/2006/relationships" id="260" r:id="R9082688d5dec4e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22ae29233d54263" /><Relationship Type="http://schemas.openxmlformats.org/officeDocument/2006/relationships/slideMaster" Target="/ppt/slideMasters/slideMaster1.xml" Id="R44688c9b3b794c66" /><Relationship Type="http://schemas.openxmlformats.org/officeDocument/2006/relationships/notesMaster" Target="/ppt/notesMasters/notesMaster1.xml" Id="R6cdf9f90b8dd4c9b" /><Relationship Type="http://schemas.openxmlformats.org/officeDocument/2006/relationships/presProps" Target="/ppt/presProps.xml" Id="Rc4567d4e2cda499a" /><Relationship Type="http://schemas.openxmlformats.org/officeDocument/2006/relationships/viewProps" Target="/ppt/viewProps.xml" Id="R9887df2405ff421a" /><Relationship Type="http://schemas.openxmlformats.org/officeDocument/2006/relationships/tableStyles" Target="/ppt/tableStyles.xml" Id="R44b28aa9737f4a81" /><Relationship Type="http://schemas.openxmlformats.org/officeDocument/2006/relationships/slide" Target="/ppt/slides/slide1.xml" Id="R18cb899a00e6497b" /><Relationship Type="http://schemas.openxmlformats.org/officeDocument/2006/relationships/slide" Target="/ppt/slides/slide2.xml" Id="Re4f413dd8ec7408d" /><Relationship Type="http://schemas.openxmlformats.org/officeDocument/2006/relationships/slide" Target="/ppt/slides/slide3.xml" Id="R353811d2d33f42cc" /><Relationship Type="http://schemas.openxmlformats.org/officeDocument/2006/relationships/slide" Target="/ppt/slides/slide4.xml" Id="Rb72910ab5672411d" /><Relationship Type="http://schemas.openxmlformats.org/officeDocument/2006/relationships/slide" Target="/ppt/slides/slide5.xml" Id="R9082688d5dec4e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be6557a93e4f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d3c643135c4161" /><Relationship Type="http://schemas.openxmlformats.org/officeDocument/2006/relationships/notesMaster" Target="/ppt/notesMasters/notesMaster1.xml" Id="R4c2e57ee26de44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cbc4fd745d4986" /><Relationship Type="http://schemas.openxmlformats.org/officeDocument/2006/relationships/notesMaster" Target="/ppt/notesMasters/notesMaster1.xml" Id="Rb021f97591944735"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a3e0d05ec549c2" /><Relationship Type="http://schemas.openxmlformats.org/officeDocument/2006/relationships/notesMaster" Target="/ppt/notesMasters/notesMaster1.xml" Id="R8d50824c5e7b45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7e3425f25f40fb" /><Relationship Type="http://schemas.openxmlformats.org/officeDocument/2006/relationships/notesMaster" Target="/ppt/notesMasters/notesMaster1.xml" Id="Ra182a3510d9143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ffd437621b49a2" /><Relationship Type="http://schemas.openxmlformats.org/officeDocument/2006/relationships/notesMaster" Target="/ppt/notesMasters/notesMaster1.xml" Id="Rc781d761b2f74e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SecureMailScope addresses SIH problem statement 26159: AI-Assisted Cryptographic Security Posture Assessment for Secure Email Communications. The target users are mail administrators, security operations teams and learners who need to understand whether captured email sessions used appropriate cryptographic protection. The prototype accepts packet captures, reconstructs supported sessions, evaluates observable evidence and explains what to fix. It is passive analysis: it does not actively attack mail servers or decrypt email messages. The presentation describes the implemented demonstration, not a certified forensic or compliance product. Team: Crypterpillars. The registered Team ID still needs to be supplied. Sources: project README.md, SecureMailScope.txt and the existing project submission 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The problem is the gap between a connection appearing encrypted and evidence that its configuration is safe. Examples include negotiating an old TLS version, using a weak cipher, continuing plaintext authentication after STARTTLS failure, or presenting an expired or mismatched certificate. SecureMailScope turns captured packets into reconstructed SMTP, IMAP and POP3 sessions, then links findings to frames, timestamps and remediation. Deterministic rules are the primary evidence-based checks. Random Forest provides a separately labeled risk classification and Isolation Forest provides an anomaly signal using normalized cryptographic features rather than raw email content. These models assist the analyst and do not establish proof of compromise. The interface preserves unknowns instead of treating missing evidence as secure. Uploaded captures and the original synthetic browser simulation are separate workflows. In local mode, analysis makes no external API calls. Source: README.md and backend/app/core. Screenshot: tmp/video/landing.png.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Intake validates PCAP or PCAPNG and enforces the 50 MB upload limit. SHA-256 identifies the uploaded bytes. TShark is the primary packet extractor when available, with Scapy as the fallback. Reconstruction orders TCP segments and records retransmissions or gaps before protocol and TLS parsing. Supported email transitions include SMTP STARTTLS, IMAP STARTTLS and POP3 STLS. Assessment checks observable TLS versions, cipher properties, forward secrecy and X.509 certificate evidence, including validity at capture time and name/key checks. Rules attach packet evidence and a suggested fix. The ML path uses 11 normalized features. Random Forest classifies risk and Isolation Forest flags unusual combinations. Per-session scoring starts at 100 and subtracts deterministic-rule and separately recorded ML deductions, with a floor of zero. The overall score averages assessed sessions. Incomplete sessions have no score; no supported sessions does not imply a score of 100. Reports export as JSON, self-contained HTML or backend-generated PDF. Sources: README.md; backend/app/core/posture_score.py; rule_engine.py; pipeline.py. Workflow illustration is an AI-generated conceptual graphic, not measured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Feasibility rests on an implemented React/TypeScript interface and Python/FastAPI backend, with local persistence and report generation. Constructed fixtures exercise cleartext authentication, TLS weaknesses, certificate faults, failed upgrades and partial captures. They validate known scenarios through the actual parser, but do not prove production coverage. TLS 1.3 encrypts certificates after ServerHello, and a passive capture cannot always establish identity, certificate validity or revocation status. Stream gaps can also prevent a complete assessment. The mitigation is to retain explicit uncertainty and exclude incomplete sessions from the overall score. Synthetic ML evaluation must not be advertised as real-world accuracy. Next validation should use authorized representative traffic, varied providers and configurations, and measurement of false positives and analyst review time. Expected benefits are faster prioritization and easier explanation of fixes; these are intended outcomes, not measured efficiency gains. Credentials and message content are redacted from exported evidence, but original packet captures still require appropriate access and retention controls. Sources: README.md Evidence boundaries and Validation.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The screenshots show the actual web application with a constructed cleartext_auth.pcap fixture. First upload or select the demo capture. The overview reports three reconstructed sessions and three critical findings, representing the SMTP, IMAP and POP3 plaintext-authentication scenario. Open the SMTP session to inspect the evidence panel. STARTTLS-002 at frame 6 reports that advertised STARTTLS was not used. AUTH-001 at frame 7 reports authentication exposed in plaintext. The panel also offers the remediation to enforce STARTTLS on the client and server, alongside separately labeled ML risk and anomaly fields. The displayed SMTP score of 43 is an assessed-session posture score, not a probability of compromise or a claim about a real organization. Finally open Reports and export JSON, HTML or PDF so the evidence and recommendations can be reviewed outside the dashboard. The browser simulation and its simulated remediation remain distinct from actual uploaded-capture results. Sources: existing project screenshots tmp/video/workspace.png and tmp/video/session.png; README.md Demo flow.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131376caa14a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258134ab66b4b2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a266c4019c8461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d2a5226b1c648a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611a249833c49b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6848be2decb4c2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60a4b5f34274f1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148a38b7983492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876b12f984746c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7487ac9f7f84d0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83e6bdf1019494f"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4A14450-EBBD-434B-B865-89A6A1ECCCD6}"/>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4C810203-E1E0-4AED-BE3F-ACC72ABDBE5C}"/>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CD3AD2F2-60FB-4FDC-861C-18A791C8390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CAABC370-8F73-469E-9AAB-D5678E72B1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27BB364C-C257-4139-9E03-EC025EF7316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6FE389F-8A61-4A59-8823-023A80838C3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6491013-E886-4BAD-820A-86B032472319}"/>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AA64AA5-0B1C-4713-9F51-193AC5C47F3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97DCC626-1554-4E52-9820-2EB920C3BCF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59FF7573-4CC1-4F02-8162-0F3B93DD17D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C0E927F-FA86-4B4F-B7FE-EA828E38560A}"/>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31437AD5-FCDA-46FC-929B-2836CCA42DFA}"/>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56D0DE7B-9F2E-41CC-BEC3-D4F266FA42C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DF5E1554-A761-437C-88CF-F4213D54EFE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75292355-1EAB-486F-A54E-99FEF97592D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CE3EFFC-CE01-484D-88BE-42EB21DCF37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9E4B94E-02F7-4BF9-BB2E-773BC0867493}"/>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C2DF5944-6EBF-4FFC-8283-A190FEC26DEF}"/>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D111CCBB-B767-4F92-9C26-1E251F497C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8F2997DC-3546-43E8-85B3-A3B9128152E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2E1590DB-9A55-4F00-8F4F-5618D5A96F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2B4C016-F496-4850-9A5C-8A256EBC997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77DA415D-7F25-4248-9C61-DA0D76BD0447}"/>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82A03AA7-4A92-4C79-95C2-8086F63A8930}"/>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150BAEB7-AF98-4FC2-8617-0C14C2596D6A}"/>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72914944-A17F-4074-911E-D08F451309AC}"/>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B860BEC2-D6FB-4522-A6B6-35D8B15B56E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7C3595EE-8664-46C1-8E46-65D861DD0C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6CAD8897-C893-4084-8136-F76FB5E650B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254E79A-B784-4D5F-9AD4-81B1C1F0964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E90077A4-FC32-48F1-9155-3091E4B1B22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58FBFF50-1AD0-47E1-907C-8A5B619C4FA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FE9F2751-2F30-4EB2-9B91-E4FA6870D96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615EAB1E-E1EB-4B08-9F93-9EC9C1F6E0A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10CC81E1-8DDC-414F-9836-81F3687B5D7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64AEA269-A802-4B94-9C86-F641EED0998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A6F4C3B-3AE4-43E0-89AD-E3006B64A4B0}"/>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ABF0730-88A9-437B-A9E4-9114E18BEE84}"/>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E58683F9-6B4A-4305-B824-2F82A55F81E0}"/>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DE11351B-E94E-4E78-838B-FC76FA8B2FF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FC2C42AE-6EC1-447D-87A8-DE708D14AFE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84D0D4A3-383B-400C-A8C0-4345F4238B1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9A37D8-F611-4B40-9172-208E492CB099}"/>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243CCBCD-7181-4C52-9FFB-FFD34F0483C8}"/>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36F80696-CCB6-4833-911D-6493127A09E5}"/>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863E9350-19D0-42DE-A0D0-1C14006284E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482855F0-1E03-41CE-8FED-FC5D91203F6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F23809F2-373D-48D4-BD27-71495C2FDFD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8EFEA2E-1C32-4283-B68B-9DE750461ED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CA6AF001-4062-41A0-9E43-D84437BD8AF4}"/>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538613B-1F50-45F4-952C-97E1DA71F6E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E2406273-9B11-4489-88A1-207E432448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CF9F12D5-2FFE-47EB-BE2D-94E186D297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D7238014-9DFA-4967-8098-CBC30D0F9CB6}"/>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0ADC60FF-A59A-4372-B35F-456DCC28AEF9}"/>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DF3A7B9-8D54-4FCD-94B9-517E69B70C8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E6569D98-A682-423F-BADD-D2DA8A5C616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6E6F9071-5417-468C-917F-7084F14A7C1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a7e60b8d44a4ce9" /><Relationship Type="http://schemas.openxmlformats.org/officeDocument/2006/relationships/slideLayout" Target="/ppt/slideLayouts/slideLayout1.xml" Id="Rbb4b8941c9a14e52" /><Relationship Type="http://schemas.openxmlformats.org/officeDocument/2006/relationships/slideLayout" Target="/ppt/slideLayouts/slideLayout2.xml" Id="Rc30558bf6be74272" /><Relationship Type="http://schemas.openxmlformats.org/officeDocument/2006/relationships/slideLayout" Target="/ppt/slideLayouts/slideLayout3.xml" Id="Rba5608afe55e48f9" /><Relationship Type="http://schemas.openxmlformats.org/officeDocument/2006/relationships/slideLayout" Target="/ppt/slideLayouts/slideLayout4.xml" Id="Reb2db33769ee4ae9" /><Relationship Type="http://schemas.openxmlformats.org/officeDocument/2006/relationships/slideLayout" Target="/ppt/slideLayouts/slideLayout5.xml" Id="R624890da448a4e83" /><Relationship Type="http://schemas.openxmlformats.org/officeDocument/2006/relationships/slideLayout" Target="/ppt/slideLayouts/slideLayout6.xml" Id="R4e64c35467474128" /><Relationship Type="http://schemas.openxmlformats.org/officeDocument/2006/relationships/slideLayout" Target="/ppt/slideLayouts/slideLayout7.xml" Id="R6dc8ae8408714665" /><Relationship Type="http://schemas.openxmlformats.org/officeDocument/2006/relationships/slideLayout" Target="/ppt/slideLayouts/slideLayout8.xml" Id="R12e7b1468403454f" /><Relationship Type="http://schemas.openxmlformats.org/officeDocument/2006/relationships/slideLayout" Target="/ppt/slideLayouts/slideLayout9.xml" Id="R3d90d73b54194344" /><Relationship Type="http://schemas.openxmlformats.org/officeDocument/2006/relationships/slideLayout" Target="/ppt/slideLayouts/slideLayout10.xml" Id="Re7b029eef5b147f4" /><Relationship Type="http://schemas.openxmlformats.org/officeDocument/2006/relationships/slideLayout" Target="/ppt/slideLayouts/slideLayout11.xml" Id="Re68a66314b7b45c9"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ABCA111A-FD14-4D7A-BCFB-6E652CB66BB7}"/>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D46C56A1-5C7F-46E7-AED3-BC40210B9106}"/>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AB5FC85-5540-493C-B009-9A260C4CE34F}"/>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67A3BB94-06F3-4288-8E9B-450F7F0C1E3D}"/>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66D9DB80-D997-40C9-B6FF-3883435E5985}"/>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4b8941c9a14e52"/>
    <p:sldLayoutId xmlns:r="http://schemas.openxmlformats.org/officeDocument/2006/relationships" id="2147483650" r:id="Rc30558bf6be74272"/>
    <p:sldLayoutId xmlns:r="http://schemas.openxmlformats.org/officeDocument/2006/relationships" id="2147483651" r:id="Rba5608afe55e48f9"/>
    <p:sldLayoutId xmlns:r="http://schemas.openxmlformats.org/officeDocument/2006/relationships" id="2147483652" r:id="Reb2db33769ee4ae9"/>
    <p:sldLayoutId xmlns:r="http://schemas.openxmlformats.org/officeDocument/2006/relationships" id="2147483653" r:id="R624890da448a4e83"/>
    <p:sldLayoutId xmlns:r="http://schemas.openxmlformats.org/officeDocument/2006/relationships" id="2147483654" r:id="R4e64c35467474128"/>
    <p:sldLayoutId xmlns:r="http://schemas.openxmlformats.org/officeDocument/2006/relationships" id="2147483655" r:id="R6dc8ae8408714665"/>
    <p:sldLayoutId xmlns:r="http://schemas.openxmlformats.org/officeDocument/2006/relationships" id="2147483656" r:id="R12e7b1468403454f"/>
    <p:sldLayoutId xmlns:r="http://schemas.openxmlformats.org/officeDocument/2006/relationships" id="2147483657" r:id="R3d90d73b54194344"/>
    <p:sldLayoutId xmlns:r="http://schemas.openxmlformats.org/officeDocument/2006/relationships" id="2147483658" r:id="Re7b029eef5b147f4"/>
    <p:sldLayoutId xmlns:r="http://schemas.openxmlformats.org/officeDocument/2006/relationships" id="2147483659" r:id="Re68a66314b7b45c9"/>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f884ee0e6e74695" /><Relationship Type="http://schemas.openxmlformats.org/officeDocument/2006/relationships/image" Target="/ppt/media/image.png" Id="Re83263c826144fc3" /><Relationship Type="http://schemas.openxmlformats.org/officeDocument/2006/relationships/image" Target="/ppt/media/image2.png" Id="R17e78f1f9df34b67" /><Relationship Type="http://schemas.openxmlformats.org/officeDocument/2006/relationships/notesSlide" Target="/ppt/notesSlides/notesSlide1.xml" Id="Ree80663b93194e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9b1a9270449142ce" /><Relationship Type="http://schemas.openxmlformats.org/officeDocument/2006/relationships/image" Target="/ppt/media/image2.png" Id="Rd530b7181be241ef" /><Relationship Type="http://schemas.openxmlformats.org/officeDocument/2006/relationships/image" Target="/ppt/media/image3.png" Id="Rb1a2f9626cf44018" /><Relationship Type="http://schemas.openxmlformats.org/officeDocument/2006/relationships/notesSlide" Target="/ppt/notesSlides/notesSlide2.xml" Id="R0df2141fc4794e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e30b30aabd94aaa" /><Relationship Type="http://schemas.openxmlformats.org/officeDocument/2006/relationships/image" Target="/ppt/media/image2.png" Id="R662d998bf5cb40ca" /><Relationship Type="http://schemas.openxmlformats.org/officeDocument/2006/relationships/image" Target="/ppt/media/image4.png" Id="Rda832d3497b448ae" /><Relationship Type="http://schemas.openxmlformats.org/officeDocument/2006/relationships/notesSlide" Target="/ppt/notesSlides/notesSlide3.xml" Id="Re99b962af55846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0caa1289b9424119" /><Relationship Type="http://schemas.openxmlformats.org/officeDocument/2006/relationships/image" Target="/ppt/media/image2.png" Id="R3af530d088754f52" /><Relationship Type="http://schemas.openxmlformats.org/officeDocument/2006/relationships/notesSlide" Target="/ppt/notesSlides/notesSlide4.xml" Id="Rb495caed66a545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ca2a2e41f134f8e" /><Relationship Type="http://schemas.openxmlformats.org/officeDocument/2006/relationships/image" Target="/ppt/media/image2.png" Id="R16c21dfb3f5244e7" /><Relationship Type="http://schemas.openxmlformats.org/officeDocument/2006/relationships/image" Target="/ppt/media/image5.png" Id="R6061c72644d34155" /><Relationship Type="http://schemas.openxmlformats.org/officeDocument/2006/relationships/image" Target="/ppt/media/image6.png" Id="Ra316d192d7544d7d" /><Relationship Type="http://schemas.openxmlformats.org/officeDocument/2006/relationships/notesSlide" Target="/ppt/notesSlides/notesSlide5.xml" Id="R0cd462276ea54996" /></Relationships>
</file>

<file path=ppt/slides/slide1.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49"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e83263c826144fc3"/>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pic>
        <p:nvPicPr>
          <p:cNvPr id="50" name="Picture 1"/>
          <p:cNvPicPr>
            <a:picLocks xmlns:a="http://schemas.openxmlformats.org/drawingml/2006/main" noChangeAspect="1"/>
          </p:cNvPicPr>
          <p:nvPr/>
        </p:nvPicPr>
        <p:blipFill>
          <a:blip xmlns:r="http://schemas.openxmlformats.org/officeDocument/2006/relationships" xmlns:a="http://schemas.openxmlformats.org/drawingml/2006/main" r:embed="R17e78f1f9df34b67"/>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CADDC65E-0392-4A23-B59F-C7DD01E7E4F2}"/>
              </a:ext>
            </a:extLst>
          </p:cNvPr>
          <p:cNvSpPr>
            <a:spLocks xmlns:a="http://schemas.openxmlformats.org/drawingml/2006/main" noGrp="1"/>
          </p:cNvSpPr>
          <p:nvPr/>
        </p:nvSpPr>
        <p:spPr>
          <a:xfrm xmlns:a="http://schemas.openxmlformats.org/drawingml/2006/main">
            <a:off x="428625" y="114300"/>
            <a:ext cx="9286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675" b="0">
                <a:solidFill>
                  <a:srgbClr val="143F59"/>
                </a:solidFill>
                <a:latin typeface="Times New Roman"/>
                <a:ea typeface="Times New Roman"/>
                <a:cs typeface="Times New Roman"/>
              </a:defRPr>
            </a:pPr>
            <a:r>
              <a:rPr sz="3675" b="0">
                <a:solidFill>
                  <a:srgbClr val="143F59"/>
                </a:solidFill>
                <a:latin typeface="Times New Roman"/>
                <a:ea typeface="Times New Roman"/>
                <a:cs typeface="Times New Roman"/>
              </a:rPr>
              <a:t>SMART INDIA HACKATHON 2026</a:t>
            </a:r>
          </a:p>
        </p:txBody>
      </p:sp>
      <p:sp>
        <p:nvSpPr>
          <p:cNvPr id="41" name="">
            <a:extLst xmlns:a="http://schemas.openxmlformats.org/drawingml/2006/main">
              <a:ext uri="{FF2B5EF4-FFF2-40B4-BE49-F238E27FC236}">
                <a16:creationId xmlns:a16="http://schemas.microsoft.com/office/drawing/2014/main" id="{0E8B2A99-166C-4A94-95F6-376D322D9A4D}"/>
              </a:ext>
            </a:extLst>
          </p:cNvPr>
          <p:cNvSpPr>
            <a:spLocks xmlns:a="http://schemas.openxmlformats.org/drawingml/2006/main" noGrp="1"/>
          </p:cNvSpPr>
          <p:nvPr/>
        </p:nvSpPr>
        <p:spPr>
          <a:xfrm xmlns:a="http://schemas.openxmlformats.org/drawingml/2006/main">
            <a:off x="419100" y="1352550"/>
            <a:ext cx="628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200" b="1">
                <a:solidFill>
                  <a:srgbClr val="198B88"/>
                </a:solidFill>
                <a:latin typeface="Times New Roman"/>
                <a:ea typeface="Times New Roman"/>
                <a:cs typeface="Times New Roman"/>
              </a:defRPr>
            </a:pPr>
            <a:r>
              <a:rPr sz="4200" b="1">
                <a:solidFill>
                  <a:srgbClr val="198B88"/>
                </a:solidFill>
                <a:latin typeface="Times New Roman"/>
                <a:ea typeface="Times New Roman"/>
                <a:cs typeface="Times New Roman"/>
              </a:rPr>
              <a:t>SecureMailScope</a:t>
            </a:r>
          </a:p>
        </p:txBody>
      </p:sp>
      <p:sp>
        <p:nvSpPr>
          <p:cNvPr id="42" name="">
            <a:extLst xmlns:a="http://schemas.openxmlformats.org/drawingml/2006/main">
              <a:ext uri="{FF2B5EF4-FFF2-40B4-BE49-F238E27FC236}">
                <a16:creationId xmlns:a16="http://schemas.microsoft.com/office/drawing/2014/main" id="{1FEC47CD-C0C8-4B37-A873-0BA6D8884C07}"/>
              </a:ext>
            </a:extLst>
          </p:cNvPr>
          <p:cNvSpPr>
            <a:spLocks xmlns:a="http://schemas.openxmlformats.org/drawingml/2006/main" noGrp="1"/>
          </p:cNvSpPr>
          <p:nvPr/>
        </p:nvSpPr>
        <p:spPr>
          <a:xfrm xmlns:a="http://schemas.openxmlformats.org/drawingml/2006/main">
            <a:off x="457200" y="2276475"/>
            <a:ext cx="6000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43F59"/>
                </a:solidFill>
                <a:latin typeface="Arial"/>
                <a:ea typeface="Arial"/>
                <a:cs typeface="Arial"/>
              </a:defRPr>
            </a:pPr>
            <a:r>
              <a:rPr sz="2100" b="1">
                <a:solidFill>
                  <a:srgbClr val="143F59"/>
                </a:solidFill>
                <a:latin typeface="Arial"/>
                <a:ea typeface="Arial"/>
                <a:cs typeface="Arial"/>
              </a:rPr>
              <a:t>AI-Assisted Cryptographic Security</a:t>
            </a:r>
          </a:p>
          <a:p xmlns:a="http://schemas.openxmlformats.org/drawingml/2006/main">
            <a:pPr algn="l">
              <a:defRPr sz="2100" b="1">
                <a:solidFill>
                  <a:srgbClr val="143F59"/>
                </a:solidFill>
                <a:latin typeface="Arial"/>
                <a:ea typeface="Arial"/>
                <a:cs typeface="Arial"/>
              </a:defRPr>
            </a:pPr>
            <a:r>
              <a:rPr sz="2100" b="1">
                <a:solidFill>
                  <a:srgbClr val="143F59"/>
                </a:solidFill>
                <a:latin typeface="Arial"/>
                <a:ea typeface="Arial"/>
                <a:cs typeface="Arial"/>
              </a:rPr>
              <a:t>Posture Assessment for Secure</a:t>
            </a:r>
          </a:p>
          <a:p xmlns:a="http://schemas.openxmlformats.org/drawingml/2006/main">
            <a:pPr algn="l">
              <a:defRPr sz="2100" b="1">
                <a:solidFill>
                  <a:srgbClr val="143F59"/>
                </a:solidFill>
                <a:latin typeface="Arial"/>
                <a:ea typeface="Arial"/>
                <a:cs typeface="Arial"/>
              </a:defRPr>
            </a:pPr>
            <a:r>
              <a:rPr sz="2100" b="1">
                <a:solidFill>
                  <a:srgbClr val="143F59"/>
                </a:solidFill>
                <a:latin typeface="Arial"/>
                <a:ea typeface="Arial"/>
                <a:cs typeface="Arial"/>
              </a:rPr>
              <a:t>Email Communications</a:t>
            </a:r>
          </a:p>
        </p:txBody>
      </p:sp>
      <p:sp>
        <p:nvSpPr>
          <p:cNvPr id="43" name="">
            <a:extLst xmlns:a="http://schemas.openxmlformats.org/drawingml/2006/main">
              <a:ext uri="{FF2B5EF4-FFF2-40B4-BE49-F238E27FC236}">
                <a16:creationId xmlns:a16="http://schemas.microsoft.com/office/drawing/2014/main" id="{33140EA1-9344-457D-873E-A7E1902643F5}"/>
              </a:ext>
            </a:extLst>
          </p:cNvPr>
          <p:cNvSpPr>
            <a:spLocks xmlns:a="http://schemas.openxmlformats.org/drawingml/2006/main" noGrp="1"/>
          </p:cNvSpPr>
          <p:nvPr/>
        </p:nvSpPr>
        <p:spPr>
          <a:xfrm xmlns:a="http://schemas.openxmlformats.org/drawingml/2006/main">
            <a:off x="457200" y="3733800"/>
            <a:ext cx="600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C8763E"/>
                </a:solidFill>
                <a:latin typeface="Arial"/>
                <a:ea typeface="Arial"/>
                <a:cs typeface="Arial"/>
              </a:defRPr>
            </a:pPr>
            <a:r>
              <a:rPr sz="1950" b="1">
                <a:solidFill>
                  <a:srgbClr val="C8763E"/>
                </a:solidFill>
                <a:latin typeface="Arial"/>
                <a:ea typeface="Arial"/>
                <a:cs typeface="Arial"/>
              </a:rPr>
              <a:t>PROBLEM STATEMENT 26159</a:t>
            </a:r>
          </a:p>
        </p:txBody>
      </p:sp>
      <p:sp>
        <p:nvSpPr>
          <p:cNvPr id="44" name="">
            <a:extLst xmlns:a="http://schemas.openxmlformats.org/drawingml/2006/main">
              <a:ext uri="{FF2B5EF4-FFF2-40B4-BE49-F238E27FC236}">
                <a16:creationId xmlns:a16="http://schemas.microsoft.com/office/drawing/2014/main" id="{4CB3E844-2151-4A56-8098-071832BD62E0}"/>
              </a:ext>
            </a:extLst>
          </p:cNvPr>
          <p:cNvSpPr>
            <a:spLocks xmlns:a="http://schemas.openxmlformats.org/drawingml/2006/main" noGrp="1"/>
          </p:cNvSpPr>
          <p:nvPr/>
        </p:nvSpPr>
        <p:spPr>
          <a:xfrm xmlns:a="http://schemas.openxmlformats.org/drawingml/2006/main">
            <a:off x="457200" y="4257675"/>
            <a:ext cx="609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33B48"/>
                </a:solidFill>
                <a:latin typeface="Arial"/>
                <a:ea typeface="Arial"/>
                <a:cs typeface="Arial"/>
              </a:defRPr>
            </a:pPr>
            <a:r>
              <a:rPr sz="1950" b="0">
                <a:solidFill>
                  <a:srgbClr val="233B48"/>
                </a:solidFill>
                <a:latin typeface="Arial"/>
                <a:ea typeface="Arial"/>
                <a:cs typeface="Arial"/>
              </a:rPr>
              <a:t>Blockchain &amp; Cybersecurity / Software</a:t>
            </a:r>
          </a:p>
        </p:txBody>
      </p:sp>
      <p:sp>
        <p:nvSpPr>
          <p:cNvPr id="45" name="">
            <a:extLst xmlns:a="http://schemas.openxmlformats.org/drawingml/2006/main">
              <a:ext uri="{FF2B5EF4-FFF2-40B4-BE49-F238E27FC236}">
                <a16:creationId xmlns:a16="http://schemas.microsoft.com/office/drawing/2014/main" id="{C26EA36B-05FC-4CC9-A83B-4698866C1ECA}"/>
              </a:ext>
            </a:extLst>
          </p:cNvPr>
          <p:cNvSpPr>
            <a:spLocks xmlns:a="http://schemas.openxmlformats.org/drawingml/2006/main" noGrp="1"/>
          </p:cNvSpPr>
          <p:nvPr/>
        </p:nvSpPr>
        <p:spPr>
          <a:xfrm xmlns:a="http://schemas.openxmlformats.org/drawingml/2006/main">
            <a:off x="457200" y="4972050"/>
            <a:ext cx="600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198B88"/>
                </a:solidFill>
                <a:latin typeface="Arial"/>
                <a:ea typeface="Arial"/>
                <a:cs typeface="Arial"/>
              </a:defRPr>
            </a:pPr>
            <a:r>
              <a:rPr sz="2400" b="1">
                <a:solidFill>
                  <a:srgbClr val="198B88"/>
                </a:solidFill>
                <a:latin typeface="Arial"/>
                <a:ea typeface="Arial"/>
                <a:cs typeface="Arial"/>
              </a:rPr>
              <a:t>Crypterpillars</a:t>
            </a:r>
          </a:p>
        </p:txBody>
      </p:sp>
      <p:sp>
        <p:nvSpPr>
          <p:cNvPr id="46" name="">
            <a:extLst xmlns:a="http://schemas.openxmlformats.org/drawingml/2006/main">
              <a:ext uri="{FF2B5EF4-FFF2-40B4-BE49-F238E27FC236}">
                <a16:creationId xmlns:a16="http://schemas.microsoft.com/office/drawing/2014/main" id="{2A8976AB-64EA-4F23-A487-8DABCBFA7B45}"/>
              </a:ext>
            </a:extLst>
          </p:cNvPr>
          <p:cNvSpPr>
            <a:spLocks xmlns:a="http://schemas.openxmlformats.org/drawingml/2006/main" noGrp="1"/>
          </p:cNvSpPr>
          <p:nvPr/>
        </p:nvSpPr>
        <p:spPr>
          <a:xfrm xmlns:a="http://schemas.openxmlformats.org/drawingml/2006/main">
            <a:off x="457200" y="5514975"/>
            <a:ext cx="600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Team ID: To be added</a:t>
            </a:r>
          </a:p>
        </p:txBody>
      </p:sp>
    </p:spTree>
    <p:extLst>
      <p:ext uri="{BB962C8B-B14F-4D97-AF65-F5344CB8AC3E}">
        <p14:creationId xmlns:p14="http://schemas.microsoft.com/office/powerpoint/2010/main" val="1120697927"/>
      </p:ext>
    </p:extLst>
  </p:cSld>
</p:sld>
</file>

<file path=ppt/slides/slide2.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396390ED-6AC6-49FF-995C-790E61D2B6D1}"/>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143F59"/>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a:solidFill xmlns:a="http://schemas.openxmlformats.org/drawingml/2006/main">
            <a:srgbClr val="E9F5F3"/>
          </a:solidFill>
          <a:ln xmlns:a="http://schemas.openxmlformats.org/drawingml/2006/main" w="19050">
            <a:solidFill>
              <a:srgbClr val="198B88"/>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p:txBody>
      </p:sp>
      <p:pic>
        <p:nvPicPr>
          <p:cNvPr id="15378" name="Picture 10"/>
          <p:cNvPicPr>
            <a:picLocks xmlns:a="http://schemas.openxmlformats.org/drawingml/2006/main" noChangeAspect="1"/>
          </p:cNvPicPr>
          <p:nvPr/>
        </p:nvPicPr>
        <p:blipFill>
          <a:blip xmlns:r="http://schemas.openxmlformats.org/officeDocument/2006/relationships" xmlns:a="http://schemas.openxmlformats.org/drawingml/2006/main" r:embed="Rd530b7181be241ef"/>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5364" name="">
            <a:extLst xmlns:a="http://schemas.openxmlformats.org/drawingml/2006/main">
              <a:ext uri="{FF2B5EF4-FFF2-40B4-BE49-F238E27FC236}">
                <a16:creationId xmlns:a16="http://schemas.microsoft.com/office/drawing/2014/main" id="{3DAE4CEB-3819-4DDB-9155-2B5FE8D72E62}"/>
              </a:ext>
            </a:extLst>
          </p:cNvPr>
          <p:cNvSpPr>
            <a:spLocks xmlns:a="http://schemas.openxmlformats.org/drawingml/2006/main" noGrp="1"/>
          </p:cNvSpPr>
          <p:nvPr/>
        </p:nvSpPr>
        <p:spPr>
          <a:xfrm xmlns:a="http://schemas.openxmlformats.org/drawingml/2006/main">
            <a:off x="285750" y="457200"/>
            <a:ext cx="140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143F59"/>
                </a:solidFill>
                <a:latin typeface="Arial"/>
                <a:ea typeface="Arial"/>
                <a:cs typeface="Arial"/>
              </a:defRPr>
            </a:pPr>
            <a:r>
              <a:rPr sz="1275" b="1">
                <a:solidFill>
                  <a:srgbClr val="143F59"/>
                </a:solidFill>
                <a:latin typeface="Arial"/>
                <a:ea typeface="Arial"/>
                <a:cs typeface="Arial"/>
              </a:rPr>
              <a:t>Crypterpillars</a:t>
            </a:r>
          </a:p>
        </p:txBody>
      </p:sp>
      <p:sp>
        <p:nvSpPr>
          <p:cNvPr id="15365" name="">
            <a:extLst xmlns:a="http://schemas.openxmlformats.org/drawingml/2006/main">
              <a:ext uri="{FF2B5EF4-FFF2-40B4-BE49-F238E27FC236}">
                <a16:creationId xmlns:a16="http://schemas.microsoft.com/office/drawing/2014/main" id="{13F24271-0655-4054-AB9C-B9B18FD7670D}"/>
              </a:ext>
            </a:extLst>
          </p:cNvPr>
          <p:cNvSpPr>
            <a:spLocks xmlns:a="http://schemas.openxmlformats.org/drawingml/2006/main" noGrp="1"/>
          </p:cNvSpPr>
          <p:nvPr/>
        </p:nvSpPr>
        <p:spPr>
          <a:xfrm xmlns:a="http://schemas.openxmlformats.org/drawingml/2006/main">
            <a:off x="1857375" y="247650"/>
            <a:ext cx="7810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225" b="1">
                <a:solidFill>
                  <a:srgbClr val="143F59"/>
                </a:solidFill>
                <a:latin typeface="Times New Roman"/>
                <a:ea typeface="Times New Roman"/>
                <a:cs typeface="Times New Roman"/>
              </a:defRPr>
            </a:pPr>
            <a:r>
              <a:rPr sz="3225" b="1">
                <a:solidFill>
                  <a:srgbClr val="143F59"/>
                </a:solidFill>
                <a:latin typeface="Times New Roman"/>
                <a:ea typeface="Times New Roman"/>
                <a:cs typeface="Times New Roman"/>
              </a:rPr>
              <a:t>PROPOSED SOLUTION</a:t>
            </a:r>
          </a:p>
        </p:txBody>
      </p:sp>
      <p:sp>
        <p:nvSpPr>
          <p:cNvPr id="15366" name="">
            <a:extLst xmlns:a="http://schemas.openxmlformats.org/drawingml/2006/main">
              <a:ext uri="{FF2B5EF4-FFF2-40B4-BE49-F238E27FC236}">
                <a16:creationId xmlns:a16="http://schemas.microsoft.com/office/drawing/2014/main" id="{891A0E6B-16D0-46E9-8A11-A0CE6B5D9DD5}"/>
              </a:ext>
            </a:extLst>
          </p:cNvPr>
          <p:cNvSpPr>
            <a:spLocks xmlns:a="http://schemas.openxmlformats.org/drawingml/2006/main" noGrp="1"/>
          </p:cNvSpPr>
          <p:nvPr/>
        </p:nvSpPr>
        <p:spPr>
          <a:xfrm xmlns:a="http://schemas.openxmlformats.org/drawingml/2006/main">
            <a:off x="4648200" y="6400800"/>
            <a:ext cx="320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a:solidFill>
                  <a:srgbClr val="FFFFFF"/>
                </a:solidFill>
                <a:latin typeface="Arial"/>
                <a:ea typeface="Arial"/>
                <a:cs typeface="Arial"/>
              </a:defRPr>
            </a:pPr>
            <a:r>
              <a:rPr sz="1050" b="0">
                <a:solidFill>
                  <a:srgbClr val="FFFFFF"/>
                </a:solidFill>
                <a:latin typeface="Arial"/>
                <a:ea typeface="Arial"/>
                <a:cs typeface="Arial"/>
              </a:rPr>
              <a:t>SecureMailScope / SIH 2026</a:t>
            </a:r>
          </a:p>
        </p:txBody>
      </p:sp>
      <p:sp>
        <p:nvSpPr>
          <p:cNvPr id="15367" name="">
            <a:extLst xmlns:a="http://schemas.openxmlformats.org/drawingml/2006/main">
              <a:ext uri="{FF2B5EF4-FFF2-40B4-BE49-F238E27FC236}">
                <a16:creationId xmlns:a16="http://schemas.microsoft.com/office/drawing/2014/main" id="{46BF3C9F-1973-4E21-A7EA-682E3167B9C0}"/>
              </a:ext>
            </a:extLst>
          </p:cNvPr>
          <p:cNvSpPr>
            <a:spLocks xmlns:a="http://schemas.openxmlformats.org/drawingml/2006/main" noGrp="1"/>
          </p:cNvSpPr>
          <p:nvPr/>
        </p:nvSpPr>
        <p:spPr>
          <a:xfrm xmlns:a="http://schemas.openxmlformats.org/drawingml/2006/main">
            <a:off x="11239500" y="64008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15368" name="">
            <a:extLst xmlns:a="http://schemas.openxmlformats.org/drawingml/2006/main">
              <a:ext uri="{FF2B5EF4-FFF2-40B4-BE49-F238E27FC236}">
                <a16:creationId xmlns:a16="http://schemas.microsoft.com/office/drawing/2014/main" id="{32B29366-1224-4BF1-89CA-E4D99429314F}"/>
              </a:ext>
            </a:extLst>
          </p:cNvPr>
          <p:cNvSpPr>
            <a:spLocks xmlns:a="http://schemas.openxmlformats.org/drawingml/2006/main" noGrp="1"/>
          </p:cNvSpPr>
          <p:nvPr/>
        </p:nvSpPr>
        <p:spPr>
          <a:xfrm xmlns:a="http://schemas.openxmlformats.org/drawingml/2006/main">
            <a:off x="533400" y="1476375"/>
            <a:ext cx="5286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C8763E"/>
                </a:solidFill>
                <a:latin typeface="Arial"/>
                <a:ea typeface="Arial"/>
                <a:cs typeface="Arial"/>
              </a:defRPr>
            </a:pPr>
            <a:r>
              <a:rPr sz="2250" b="1">
                <a:solidFill>
                  <a:srgbClr val="C8763E"/>
                </a:solidFill>
                <a:latin typeface="Arial"/>
                <a:ea typeface="Arial"/>
                <a:cs typeface="Arial"/>
              </a:rPr>
              <a:t>The problem</a:t>
            </a:r>
          </a:p>
        </p:txBody>
      </p:sp>
      <p:sp>
        <p:nvSpPr>
          <p:cNvPr id="15369" name="">
            <a:extLst xmlns:a="http://schemas.openxmlformats.org/drawingml/2006/main">
              <a:ext uri="{FF2B5EF4-FFF2-40B4-BE49-F238E27FC236}">
                <a16:creationId xmlns:a16="http://schemas.microsoft.com/office/drawing/2014/main" id="{6A2C387C-B9D9-4447-A77E-92ADA9B54F90}"/>
              </a:ext>
            </a:extLst>
          </p:cNvPr>
          <p:cNvSpPr>
            <a:spLocks xmlns:a="http://schemas.openxmlformats.org/drawingml/2006/main" noGrp="1"/>
          </p:cNvSpPr>
          <p:nvPr/>
        </p:nvSpPr>
        <p:spPr>
          <a:xfrm xmlns:a="http://schemas.openxmlformats.org/drawingml/2006/main">
            <a:off x="533400" y="1943100"/>
            <a:ext cx="5334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33B48"/>
                </a:solidFill>
                <a:latin typeface="Arial"/>
                <a:ea typeface="Arial"/>
                <a:cs typeface="Arial"/>
              </a:defRPr>
            </a:pPr>
            <a:r>
              <a:rPr sz="1875" b="0">
                <a:solidFill>
                  <a:srgbClr val="233B48"/>
                </a:solidFill>
                <a:latin typeface="Arial"/>
                <a:ea typeface="Arial"/>
                <a:cs typeface="Arial"/>
              </a:rPr>
              <a:t>A secure port does not prove a secure session.</a:t>
            </a:r>
          </a:p>
          <a:p xmlns:a="http://schemas.openxmlformats.org/drawingml/2006/main">
            <a:pPr algn="l">
              <a:defRPr sz="1875" b="0">
                <a:solidFill>
                  <a:srgbClr val="233B48"/>
                </a:solidFill>
                <a:latin typeface="Arial"/>
                <a:ea typeface="Arial"/>
                <a:cs typeface="Arial"/>
              </a:defRPr>
            </a:pPr>
            <a:r>
              <a:rPr sz="1875" b="0">
                <a:solidFill>
                  <a:srgbClr val="233B48"/>
                </a:solidFill>
                <a:latin typeface="Arial"/>
                <a:ea typeface="Arial"/>
                <a:cs typeface="Arial"/>
              </a:rPr>
              <a:t>Weak ciphers, failed STARTTLS upgrades and</a:t>
            </a:r>
          </a:p>
          <a:p xmlns:a="http://schemas.openxmlformats.org/drawingml/2006/main">
            <a:pPr algn="l">
              <a:defRPr sz="1875" b="0">
                <a:solidFill>
                  <a:srgbClr val="233B48"/>
                </a:solidFill>
                <a:latin typeface="Arial"/>
                <a:ea typeface="Arial"/>
                <a:cs typeface="Arial"/>
              </a:defRPr>
            </a:pPr>
            <a:r>
              <a:rPr sz="1875" b="0">
                <a:solidFill>
                  <a:srgbClr val="233B48"/>
                </a:solidFill>
                <a:latin typeface="Arial"/>
                <a:ea typeface="Arial"/>
                <a:cs typeface="Arial"/>
              </a:rPr>
              <a:t>plaintext logins need evidence-based review.</a:t>
            </a:r>
          </a:p>
        </p:txBody>
      </p:sp>
      <p:sp>
        <p:nvSpPr>
          <p:cNvPr id="15370" name="">
            <a:extLst xmlns:a="http://schemas.openxmlformats.org/drawingml/2006/main">
              <a:ext uri="{FF2B5EF4-FFF2-40B4-BE49-F238E27FC236}">
                <a16:creationId xmlns:a16="http://schemas.microsoft.com/office/drawing/2014/main" id="{07E1FE43-4325-4482-9D5C-02C3B1A89257}"/>
              </a:ext>
            </a:extLst>
          </p:cNvPr>
          <p:cNvSpPr>
            <a:spLocks xmlns:a="http://schemas.openxmlformats.org/drawingml/2006/main" noGrp="1"/>
          </p:cNvSpPr>
          <p:nvPr/>
        </p:nvSpPr>
        <p:spPr>
          <a:xfrm xmlns:a="http://schemas.openxmlformats.org/drawingml/2006/main">
            <a:off x="533400" y="3314700"/>
            <a:ext cx="5286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8B88"/>
                </a:solidFill>
                <a:latin typeface="Arial"/>
                <a:ea typeface="Arial"/>
                <a:cs typeface="Arial"/>
              </a:defRPr>
            </a:pPr>
            <a:r>
              <a:rPr sz="2250" b="1">
                <a:solidFill>
                  <a:srgbClr val="198B88"/>
                </a:solidFill>
                <a:latin typeface="Arial"/>
                <a:ea typeface="Arial"/>
                <a:cs typeface="Arial"/>
              </a:rPr>
              <a:t>The solution</a:t>
            </a:r>
          </a:p>
        </p:txBody>
      </p:sp>
      <p:sp>
        <p:nvSpPr>
          <p:cNvPr id="15371" name="">
            <a:extLst xmlns:a="http://schemas.openxmlformats.org/drawingml/2006/main">
              <a:ext uri="{FF2B5EF4-FFF2-40B4-BE49-F238E27FC236}">
                <a16:creationId xmlns:a16="http://schemas.microsoft.com/office/drawing/2014/main" id="{C778B515-3CC4-4C99-BAAE-F20BBDCB560C}"/>
              </a:ext>
            </a:extLst>
          </p:cNvPr>
          <p:cNvSpPr>
            <a:spLocks xmlns:a="http://schemas.openxmlformats.org/drawingml/2006/main" noGrp="1"/>
          </p:cNvSpPr>
          <p:nvPr/>
        </p:nvSpPr>
        <p:spPr>
          <a:xfrm xmlns:a="http://schemas.openxmlformats.org/drawingml/2006/main">
            <a:off x="533400" y="3752850"/>
            <a:ext cx="5334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33B48"/>
                </a:solidFill>
                <a:latin typeface="Arial"/>
                <a:ea typeface="Arial"/>
                <a:cs typeface="Arial"/>
              </a:defRPr>
            </a:pPr>
            <a:r>
              <a:rPr sz="1875" b="0">
                <a:solidFill>
                  <a:srgbClr val="233B48"/>
                </a:solidFill>
                <a:latin typeface="Arial"/>
                <a:ea typeface="Arial"/>
                <a:cs typeface="Arial"/>
              </a:rPr>
              <a:t>Upload PCAP/PCAPNG and reconstruct SMTP,</a:t>
            </a:r>
          </a:p>
          <a:p xmlns:a="http://schemas.openxmlformats.org/drawingml/2006/main">
            <a:pPr algn="l">
              <a:defRPr sz="1875" b="0">
                <a:solidFill>
                  <a:srgbClr val="233B48"/>
                </a:solidFill>
                <a:latin typeface="Arial"/>
                <a:ea typeface="Arial"/>
                <a:cs typeface="Arial"/>
              </a:defRPr>
            </a:pPr>
            <a:r>
              <a:rPr sz="1875" b="0">
                <a:solidFill>
                  <a:srgbClr val="233B48"/>
                </a:solidFill>
                <a:latin typeface="Arial"/>
                <a:ea typeface="Arial"/>
                <a:cs typeface="Arial"/>
              </a:rPr>
              <a:t>IMAP and POP3 sessions. Detect weak TLS,</a:t>
            </a:r>
          </a:p>
          <a:p xmlns:a="http://schemas.openxmlformats.org/drawingml/2006/main">
            <a:pPr algn="l">
              <a:defRPr sz="1875" b="0">
                <a:solidFill>
                  <a:srgbClr val="233B48"/>
                </a:solidFill>
                <a:latin typeface="Arial"/>
                <a:ea typeface="Arial"/>
                <a:cs typeface="Arial"/>
              </a:defRPr>
            </a:pPr>
            <a:r>
              <a:rPr sz="1875" b="0">
                <a:solidFill>
                  <a:srgbClr val="233B48"/>
                </a:solidFill>
                <a:latin typeface="Arial"/>
                <a:ea typeface="Arial"/>
                <a:cs typeface="Arial"/>
              </a:rPr>
              <a:t>certificate faults and exposed credentials.</a:t>
            </a:r>
          </a:p>
        </p:txBody>
      </p:sp>
      <p:pic>
        <p:nvPicPr>
          <p:cNvPr id="15387" name=""/>
          <p:cNvPicPr>
            <a:picLocks xmlns:a="http://schemas.openxmlformats.org/drawingml/2006/main" noChangeAspect="1"/>
          </p:cNvPicPr>
          <p:nvPr/>
        </p:nvPicPr>
        <p:blipFill>
          <a:blip xmlns:r="http://schemas.openxmlformats.org/officeDocument/2006/relationships" xmlns:a="http://schemas.openxmlformats.org/drawingml/2006/main" r:embed="Rb1a2f9626cf44018"/>
          <a:stretch xmlns:a="http://schemas.openxmlformats.org/drawingml/2006/main"/>
        </p:blipFill>
        <p:spPr>
          <a:xfrm xmlns:a="http://schemas.openxmlformats.org/drawingml/2006/main">
            <a:off x="6172200" y="1638300"/>
            <a:ext cx="5476875" cy="2738438"/>
          </a:xfrm>
          <a:prstGeom xmlns:a="http://schemas.openxmlformats.org/drawingml/2006/main" prst="rect">
            <a:avLst/>
          </a:prstGeom>
        </p:spPr>
      </p:pic>
      <p:sp>
        <p:nvSpPr>
          <p:cNvPr id="15373" name="">
            <a:extLst xmlns:a="http://schemas.openxmlformats.org/drawingml/2006/main">
              <a:ext uri="{FF2B5EF4-FFF2-40B4-BE49-F238E27FC236}">
                <a16:creationId xmlns:a16="http://schemas.microsoft.com/office/drawing/2014/main" id="{DCEBD9FD-79B4-40F8-BD56-0CE7D196A220}"/>
              </a:ext>
            </a:extLst>
          </p:cNvPr>
          <p:cNvSpPr>
            <a:spLocks xmlns:a="http://schemas.openxmlformats.org/drawingml/2006/main" noGrp="1"/>
          </p:cNvSpPr>
          <p:nvPr/>
        </p:nvSpPr>
        <p:spPr>
          <a:xfrm xmlns:a="http://schemas.openxmlformats.org/drawingml/2006/main">
            <a:off x="6172200" y="4552950"/>
            <a:ext cx="5476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98B88"/>
                </a:solidFill>
                <a:latin typeface="Arial"/>
                <a:ea typeface="Arial"/>
                <a:cs typeface="Arial"/>
              </a:defRPr>
            </a:pPr>
            <a:r>
              <a:rPr sz="2175" b="1">
                <a:solidFill>
                  <a:srgbClr val="198B88"/>
                </a:solidFill>
                <a:latin typeface="Arial"/>
                <a:ea typeface="Arial"/>
                <a:cs typeface="Arial"/>
              </a:rPr>
              <a:t>Evidence behind every finding</a:t>
            </a:r>
          </a:p>
        </p:txBody>
      </p:sp>
      <p:sp>
        <p:nvSpPr>
          <p:cNvPr id="15374" name="">
            <a:extLst xmlns:a="http://schemas.openxmlformats.org/drawingml/2006/main">
              <a:ext uri="{FF2B5EF4-FFF2-40B4-BE49-F238E27FC236}">
                <a16:creationId xmlns:a16="http://schemas.microsoft.com/office/drawing/2014/main" id="{0645E9C9-CE53-4534-A38B-F745E3F89BFF}"/>
              </a:ext>
            </a:extLst>
          </p:cNvPr>
          <p:cNvSpPr>
            <a:spLocks xmlns:a="http://schemas.openxmlformats.org/drawingml/2006/main" noGrp="1"/>
          </p:cNvSpPr>
          <p:nvPr/>
        </p:nvSpPr>
        <p:spPr>
          <a:xfrm xmlns:a="http://schemas.openxmlformats.org/drawingml/2006/main">
            <a:off x="6172200" y="4972050"/>
            <a:ext cx="5476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233B48"/>
                </a:solidFill>
                <a:latin typeface="Arial"/>
                <a:ea typeface="Arial"/>
                <a:cs typeface="Arial"/>
              </a:defRPr>
            </a:pPr>
            <a:r>
              <a:rPr sz="1800" b="0">
                <a:solidFill>
                  <a:srgbClr val="233B48"/>
                </a:solidFill>
                <a:latin typeface="Arial"/>
                <a:ea typeface="Arial"/>
                <a:cs typeface="Arial"/>
              </a:rPr>
              <a:t>Each finding shows severity, packet frame</a:t>
            </a:r>
          </a:p>
          <a:p xmlns:a="http://schemas.openxmlformats.org/drawingml/2006/main">
            <a:pPr algn="l">
              <a:defRPr sz="1800" b="0">
                <a:solidFill>
                  <a:srgbClr val="233B48"/>
                </a:solidFill>
                <a:latin typeface="Arial"/>
                <a:ea typeface="Arial"/>
                <a:cs typeface="Arial"/>
              </a:defRPr>
            </a:pPr>
            <a:r>
              <a:rPr sz="1800" b="0">
                <a:solidFill>
                  <a:srgbClr val="233B48"/>
                </a:solidFill>
                <a:latin typeface="Arial"/>
                <a:ea typeface="Arial"/>
                <a:cs typeface="Arial"/>
              </a:rPr>
              <a:t>and a fix. ML uses cryptographic features,</a:t>
            </a:r>
          </a:p>
          <a:p xmlns:a="http://schemas.openxmlformats.org/drawingml/2006/main">
            <a:pPr algn="l">
              <a:defRPr sz="1800" b="0">
                <a:solidFill>
                  <a:srgbClr val="233B48"/>
                </a:solidFill>
                <a:latin typeface="Arial"/>
                <a:ea typeface="Arial"/>
                <a:cs typeface="Arial"/>
              </a:defRPr>
            </a:pPr>
            <a:r>
              <a:rPr sz="1800" b="0">
                <a:solidFill>
                  <a:srgbClr val="233B48"/>
                </a:solidFill>
                <a:latin typeface="Arial"/>
                <a:ea typeface="Arial"/>
                <a:cs typeface="Arial"/>
              </a:rPr>
              <a:t>while missing evidence stays unknown.</a:t>
            </a:r>
          </a:p>
        </p:txBody>
      </p:sp>
      <p:sp>
        <p:nvSpPr>
          <p:cNvPr id="15375" name="">
            <a:extLst xmlns:a="http://schemas.openxmlformats.org/drawingml/2006/main">
              <a:ext uri="{FF2B5EF4-FFF2-40B4-BE49-F238E27FC236}">
                <a16:creationId xmlns:a16="http://schemas.microsoft.com/office/drawing/2014/main" id="{6CCCD7BB-EC66-45E9-A52C-22B12CBBBCF5}"/>
              </a:ext>
            </a:extLst>
          </p:cNvPr>
          <p:cNvSpPr>
            <a:spLocks xmlns:a="http://schemas.openxmlformats.org/drawingml/2006/main" noGrp="1"/>
          </p:cNvSpPr>
          <p:nvPr/>
        </p:nvSpPr>
        <p:spPr>
          <a:xfrm xmlns:a="http://schemas.openxmlformats.org/drawingml/2006/main">
            <a:off x="533400" y="5295900"/>
            <a:ext cx="5286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43F59"/>
                </a:solidFill>
                <a:latin typeface="Arial"/>
                <a:ea typeface="Arial"/>
                <a:cs typeface="Arial"/>
              </a:defRPr>
            </a:pPr>
            <a:r>
              <a:rPr sz="1875" b="1">
                <a:solidFill>
                  <a:srgbClr val="143F59"/>
                </a:solidFill>
                <a:latin typeface="Arial"/>
                <a:ea typeface="Arial"/>
                <a:cs typeface="Arial"/>
              </a:rPr>
              <a:t>Passive analysis / No email decryption</a:t>
            </a:r>
          </a:p>
        </p:txBody>
      </p:sp>
    </p:spTree>
    <p:extLst>
      <p:ext uri="{BB962C8B-B14F-4D97-AF65-F5344CB8AC3E}">
        <p14:creationId xmlns:p14="http://schemas.microsoft.com/office/powerpoint/2010/main" val="133915596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143F59"/>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a:solidFill xmlns:a="http://schemas.openxmlformats.org/drawingml/2006/main">
            <a:srgbClr val="E9F5F3"/>
          </a:solidFill>
          <a:ln xmlns:a="http://schemas.openxmlformats.org/drawingml/2006/main" w="19050">
            <a:solidFill>
              <a:srgbClr val="198B88"/>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p:txBody>
      </p:sp>
      <p:pic>
        <p:nvPicPr>
          <p:cNvPr id="17429" name="Picture 11"/>
          <p:cNvPicPr>
            <a:picLocks xmlns:a="http://schemas.openxmlformats.org/drawingml/2006/main" noChangeAspect="1"/>
          </p:cNvPicPr>
          <p:nvPr/>
        </p:nvPicPr>
        <p:blipFill>
          <a:blip xmlns:r="http://schemas.openxmlformats.org/officeDocument/2006/relationships" xmlns:a="http://schemas.openxmlformats.org/drawingml/2006/main" r:embed="R662d998bf5cb40ca"/>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EACF7E1E-BE28-4F13-99AE-B6E161BAF11B}"/>
              </a:ext>
            </a:extLst>
          </p:cNvPr>
          <p:cNvSpPr>
            <a:spLocks xmlns:a="http://schemas.openxmlformats.org/drawingml/2006/main" noGrp="1"/>
          </p:cNvSpPr>
          <p:nvPr/>
        </p:nvSpPr>
        <p:spPr>
          <a:xfrm xmlns:a="http://schemas.openxmlformats.org/drawingml/2006/main">
            <a:off x="285750" y="457200"/>
            <a:ext cx="140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143F59"/>
                </a:solidFill>
                <a:latin typeface="Arial"/>
                <a:ea typeface="Arial"/>
                <a:cs typeface="Arial"/>
              </a:defRPr>
            </a:pPr>
            <a:r>
              <a:rPr sz="1275" b="1">
                <a:solidFill>
                  <a:srgbClr val="143F59"/>
                </a:solidFill>
                <a:latin typeface="Arial"/>
                <a:ea typeface="Arial"/>
                <a:cs typeface="Arial"/>
              </a:rPr>
              <a:t>Crypterpillars</a:t>
            </a:r>
          </a:p>
        </p:txBody>
      </p:sp>
      <p:sp>
        <p:nvSpPr>
          <p:cNvPr id="17413" name="">
            <a:extLst xmlns:a="http://schemas.openxmlformats.org/drawingml/2006/main">
              <a:ext uri="{FF2B5EF4-FFF2-40B4-BE49-F238E27FC236}">
                <a16:creationId xmlns:a16="http://schemas.microsoft.com/office/drawing/2014/main" id="{60623891-AFC8-44E0-A35E-B3DC245E6BFE}"/>
              </a:ext>
            </a:extLst>
          </p:cNvPr>
          <p:cNvSpPr>
            <a:spLocks xmlns:a="http://schemas.openxmlformats.org/drawingml/2006/main" noGrp="1"/>
          </p:cNvSpPr>
          <p:nvPr/>
        </p:nvSpPr>
        <p:spPr>
          <a:xfrm xmlns:a="http://schemas.openxmlformats.org/drawingml/2006/main">
            <a:off x="1857375" y="247650"/>
            <a:ext cx="7810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225" b="1">
                <a:solidFill>
                  <a:srgbClr val="143F59"/>
                </a:solidFill>
                <a:latin typeface="Times New Roman"/>
                <a:ea typeface="Times New Roman"/>
                <a:cs typeface="Times New Roman"/>
              </a:defRPr>
            </a:pPr>
            <a:r>
              <a:rPr sz="3225" b="1">
                <a:solidFill>
                  <a:srgbClr val="143F59"/>
                </a:solidFill>
                <a:latin typeface="Times New Roman"/>
                <a:ea typeface="Times New Roman"/>
                <a:cs typeface="Times New Roman"/>
              </a:rPr>
              <a:t>TECHNICAL APPROACH</a:t>
            </a:r>
          </a:p>
        </p:txBody>
      </p:sp>
      <p:sp>
        <p:nvSpPr>
          <p:cNvPr id="17414" name="">
            <a:extLst xmlns:a="http://schemas.openxmlformats.org/drawingml/2006/main">
              <a:ext uri="{FF2B5EF4-FFF2-40B4-BE49-F238E27FC236}">
                <a16:creationId xmlns:a16="http://schemas.microsoft.com/office/drawing/2014/main" id="{59F67DA2-F919-4062-AD43-5E34F30F9E07}"/>
              </a:ext>
            </a:extLst>
          </p:cNvPr>
          <p:cNvSpPr>
            <a:spLocks xmlns:a="http://schemas.openxmlformats.org/drawingml/2006/main" noGrp="1"/>
          </p:cNvSpPr>
          <p:nvPr/>
        </p:nvSpPr>
        <p:spPr>
          <a:xfrm xmlns:a="http://schemas.openxmlformats.org/drawingml/2006/main">
            <a:off x="4648200" y="6400800"/>
            <a:ext cx="320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a:solidFill>
                  <a:srgbClr val="FFFFFF"/>
                </a:solidFill>
                <a:latin typeface="Arial"/>
                <a:ea typeface="Arial"/>
                <a:cs typeface="Arial"/>
              </a:defRPr>
            </a:pPr>
            <a:r>
              <a:rPr sz="1050" b="0">
                <a:solidFill>
                  <a:srgbClr val="FFFFFF"/>
                </a:solidFill>
                <a:latin typeface="Arial"/>
                <a:ea typeface="Arial"/>
                <a:cs typeface="Arial"/>
              </a:rPr>
              <a:t>SecureMailScope / SIH 2026</a:t>
            </a:r>
          </a:p>
        </p:txBody>
      </p:sp>
      <p:sp>
        <p:nvSpPr>
          <p:cNvPr id="17415" name="">
            <a:extLst xmlns:a="http://schemas.openxmlformats.org/drawingml/2006/main">
              <a:ext uri="{FF2B5EF4-FFF2-40B4-BE49-F238E27FC236}">
                <a16:creationId xmlns:a16="http://schemas.microsoft.com/office/drawing/2014/main" id="{DF9A5E72-271C-46CA-A724-DB1168B70E6C}"/>
              </a:ext>
            </a:extLst>
          </p:cNvPr>
          <p:cNvSpPr>
            <a:spLocks xmlns:a="http://schemas.openxmlformats.org/drawingml/2006/main" noGrp="1"/>
          </p:cNvSpPr>
          <p:nvPr/>
        </p:nvSpPr>
        <p:spPr>
          <a:xfrm xmlns:a="http://schemas.openxmlformats.org/drawingml/2006/main">
            <a:off x="11239500" y="64008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pic>
        <p:nvPicPr>
          <p:cNvPr id="17434" name=""/>
          <p:cNvPicPr>
            <a:picLocks xmlns:a="http://schemas.openxmlformats.org/drawingml/2006/main" noChangeAspect="1"/>
          </p:cNvPicPr>
          <p:nvPr/>
        </p:nvPicPr>
        <p:blipFill>
          <a:blip xmlns:r="http://schemas.openxmlformats.org/officeDocument/2006/relationships" xmlns:a="http://schemas.openxmlformats.org/drawingml/2006/main" r:embed="Rda832d3497b448ae"/>
          <a:stretch xmlns:a="http://schemas.openxmlformats.org/drawingml/2006/main"/>
        </p:blipFill>
        <p:spPr>
          <a:xfrm xmlns:a="http://schemas.openxmlformats.org/drawingml/2006/main">
            <a:off x="1319955" y="1343025"/>
            <a:ext cx="9552089" cy="2276475"/>
          </a:xfrm>
          <a:prstGeom xmlns:a="http://schemas.openxmlformats.org/drawingml/2006/main" prst="rect">
            <a:avLst/>
          </a:prstGeom>
        </p:spPr>
      </p:pic>
      <p:sp>
        <p:nvSpPr>
          <p:cNvPr id="17417" name="">
            <a:extLst xmlns:a="http://schemas.openxmlformats.org/drawingml/2006/main">
              <a:ext uri="{FF2B5EF4-FFF2-40B4-BE49-F238E27FC236}">
                <a16:creationId xmlns:a16="http://schemas.microsoft.com/office/drawing/2014/main" id="{0D5FE551-915F-4A7D-94B8-A6D7CF64F586}"/>
              </a:ext>
            </a:extLst>
          </p:cNvPr>
          <p:cNvSpPr>
            <a:spLocks xmlns:a="http://schemas.openxmlformats.org/drawingml/2006/main" noGrp="1"/>
          </p:cNvSpPr>
          <p:nvPr/>
        </p:nvSpPr>
        <p:spPr>
          <a:xfrm xmlns:a="http://schemas.openxmlformats.org/drawingml/2006/main">
            <a:off x="466725" y="3619500"/>
            <a:ext cx="2838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43F59"/>
                </a:solidFill>
                <a:latin typeface="Arial"/>
                <a:ea typeface="Arial"/>
                <a:cs typeface="Arial"/>
              </a:defRPr>
            </a:pPr>
            <a:r>
              <a:rPr sz="2025" b="1">
                <a:solidFill>
                  <a:srgbClr val="143F59"/>
                </a:solidFill>
                <a:latin typeface="Arial"/>
                <a:ea typeface="Arial"/>
                <a:cs typeface="Arial"/>
              </a:rPr>
              <a:t>01  Capture intake</a:t>
            </a:r>
          </a:p>
        </p:txBody>
      </p:sp>
      <p:sp>
        <p:nvSpPr>
          <p:cNvPr id="17418" name="">
            <a:extLst xmlns:a="http://schemas.openxmlformats.org/drawingml/2006/main">
              <a:ext uri="{FF2B5EF4-FFF2-40B4-BE49-F238E27FC236}">
                <a16:creationId xmlns:a16="http://schemas.microsoft.com/office/drawing/2014/main" id="{52EAD1CE-CDCA-4703-8B4C-6CDA041CF575}"/>
              </a:ext>
            </a:extLst>
          </p:cNvPr>
          <p:cNvSpPr>
            <a:spLocks xmlns:a="http://schemas.openxmlformats.org/drawingml/2006/main" noGrp="1"/>
          </p:cNvSpPr>
          <p:nvPr/>
        </p:nvSpPr>
        <p:spPr>
          <a:xfrm xmlns:a="http://schemas.openxmlformats.org/drawingml/2006/main">
            <a:off x="466725" y="4114800"/>
            <a:ext cx="27717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Validate captures up to 50 MB.</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Use TShark or Scapy.</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Retain the file SHA-256</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for evidence identification.</a:t>
            </a:r>
          </a:p>
        </p:txBody>
      </p:sp>
      <p:sp>
        <p:nvSpPr>
          <p:cNvPr id="17419" name="">
            <a:extLst xmlns:a="http://schemas.openxmlformats.org/drawingml/2006/main">
              <a:ext uri="{FF2B5EF4-FFF2-40B4-BE49-F238E27FC236}">
                <a16:creationId xmlns:a16="http://schemas.microsoft.com/office/drawing/2014/main" id="{A57E2753-0E45-4B09-9B67-D2C1D472B545}"/>
              </a:ext>
            </a:extLst>
          </p:cNvPr>
          <p:cNvSpPr>
            <a:spLocks xmlns:a="http://schemas.openxmlformats.org/drawingml/2006/main" noGrp="1"/>
          </p:cNvSpPr>
          <p:nvPr/>
        </p:nvSpPr>
        <p:spPr>
          <a:xfrm xmlns:a="http://schemas.openxmlformats.org/drawingml/2006/main">
            <a:off x="3352800" y="3619500"/>
            <a:ext cx="2838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98B88"/>
                </a:solidFill>
                <a:latin typeface="Arial"/>
                <a:ea typeface="Arial"/>
                <a:cs typeface="Arial"/>
              </a:defRPr>
            </a:pPr>
            <a:r>
              <a:rPr sz="2025" b="1">
                <a:solidFill>
                  <a:srgbClr val="198B88"/>
                </a:solidFill>
                <a:latin typeface="Arial"/>
                <a:ea typeface="Arial"/>
                <a:cs typeface="Arial"/>
              </a:rPr>
              <a:t>02  Reconstruction</a:t>
            </a:r>
          </a:p>
        </p:txBody>
      </p:sp>
      <p:sp>
        <p:nvSpPr>
          <p:cNvPr id="17420" name="">
            <a:extLst xmlns:a="http://schemas.openxmlformats.org/drawingml/2006/main">
              <a:ext uri="{FF2B5EF4-FFF2-40B4-BE49-F238E27FC236}">
                <a16:creationId xmlns:a16="http://schemas.microsoft.com/office/drawing/2014/main" id="{35392C41-41CB-41F4-B57C-9DA60480F124}"/>
              </a:ext>
            </a:extLst>
          </p:cNvPr>
          <p:cNvSpPr>
            <a:spLocks xmlns:a="http://schemas.openxmlformats.org/drawingml/2006/main" noGrp="1"/>
          </p:cNvSpPr>
          <p:nvPr/>
        </p:nvSpPr>
        <p:spPr>
          <a:xfrm xmlns:a="http://schemas.openxmlformats.org/drawingml/2006/main">
            <a:off x="3352800" y="4114800"/>
            <a:ext cx="27717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Order TCP segments and flag</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gaps or retransmissions.</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Track email commands</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and STARTTLS transitions.</a:t>
            </a:r>
          </a:p>
        </p:txBody>
      </p:sp>
      <p:sp>
        <p:nvSpPr>
          <p:cNvPr id="17421" name="">
            <a:extLst xmlns:a="http://schemas.openxmlformats.org/drawingml/2006/main">
              <a:ext uri="{FF2B5EF4-FFF2-40B4-BE49-F238E27FC236}">
                <a16:creationId xmlns:a16="http://schemas.microsoft.com/office/drawing/2014/main" id="{B348FD0E-E83F-44E4-912A-D817BFB548B1}"/>
              </a:ext>
            </a:extLst>
          </p:cNvPr>
          <p:cNvSpPr>
            <a:spLocks xmlns:a="http://schemas.openxmlformats.org/drawingml/2006/main" noGrp="1"/>
          </p:cNvSpPr>
          <p:nvPr/>
        </p:nvSpPr>
        <p:spPr>
          <a:xfrm xmlns:a="http://schemas.openxmlformats.org/drawingml/2006/main">
            <a:off x="6238875" y="3619500"/>
            <a:ext cx="2838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C8763E"/>
                </a:solidFill>
                <a:latin typeface="Arial"/>
                <a:ea typeface="Arial"/>
                <a:cs typeface="Arial"/>
              </a:defRPr>
            </a:pPr>
            <a:r>
              <a:rPr sz="2025" b="1">
                <a:solidFill>
                  <a:srgbClr val="C8763E"/>
                </a:solidFill>
                <a:latin typeface="Arial"/>
                <a:ea typeface="Arial"/>
                <a:cs typeface="Arial"/>
              </a:rPr>
              <a:t>03  Assessment</a:t>
            </a:r>
          </a:p>
        </p:txBody>
      </p:sp>
      <p:sp>
        <p:nvSpPr>
          <p:cNvPr id="17422" name="">
            <a:extLst xmlns:a="http://schemas.openxmlformats.org/drawingml/2006/main">
              <a:ext uri="{FF2B5EF4-FFF2-40B4-BE49-F238E27FC236}">
                <a16:creationId xmlns:a16="http://schemas.microsoft.com/office/drawing/2014/main" id="{9FE4516E-5C28-48B3-AB18-0850EE8D5D11}"/>
              </a:ext>
            </a:extLst>
          </p:cNvPr>
          <p:cNvSpPr>
            <a:spLocks xmlns:a="http://schemas.openxmlformats.org/drawingml/2006/main" noGrp="1"/>
          </p:cNvSpPr>
          <p:nvPr/>
        </p:nvSpPr>
        <p:spPr>
          <a:xfrm xmlns:a="http://schemas.openxmlformats.org/drawingml/2006/main">
            <a:off x="6238875" y="4114800"/>
            <a:ext cx="27717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Inspect TLS, ciphers and</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visible X.509 certificates.</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Run deterministic rules</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and feature-based ML.</a:t>
            </a:r>
          </a:p>
        </p:txBody>
      </p:sp>
      <p:sp>
        <p:nvSpPr>
          <p:cNvPr id="17423" name="">
            <a:extLst xmlns:a="http://schemas.openxmlformats.org/drawingml/2006/main">
              <a:ext uri="{FF2B5EF4-FFF2-40B4-BE49-F238E27FC236}">
                <a16:creationId xmlns:a16="http://schemas.microsoft.com/office/drawing/2014/main" id="{C80869E8-9F72-481C-AD01-E382C0B73A2F}"/>
              </a:ext>
            </a:extLst>
          </p:cNvPr>
          <p:cNvSpPr>
            <a:spLocks xmlns:a="http://schemas.openxmlformats.org/drawingml/2006/main" noGrp="1"/>
          </p:cNvSpPr>
          <p:nvPr/>
        </p:nvSpPr>
        <p:spPr>
          <a:xfrm xmlns:a="http://schemas.openxmlformats.org/drawingml/2006/main">
            <a:off x="9124950" y="3619500"/>
            <a:ext cx="2838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98B88"/>
                </a:solidFill>
                <a:latin typeface="Arial"/>
                <a:ea typeface="Arial"/>
                <a:cs typeface="Arial"/>
              </a:defRPr>
            </a:pPr>
            <a:r>
              <a:rPr sz="2025" b="1">
                <a:solidFill>
                  <a:srgbClr val="198B88"/>
                </a:solidFill>
                <a:latin typeface="Arial"/>
                <a:ea typeface="Arial"/>
                <a:cs typeface="Arial"/>
              </a:rPr>
              <a:t>04  Analyst output</a:t>
            </a:r>
          </a:p>
        </p:txBody>
      </p:sp>
      <p:sp>
        <p:nvSpPr>
          <p:cNvPr id="17424" name="">
            <a:extLst xmlns:a="http://schemas.openxmlformats.org/drawingml/2006/main">
              <a:ext uri="{FF2B5EF4-FFF2-40B4-BE49-F238E27FC236}">
                <a16:creationId xmlns:a16="http://schemas.microsoft.com/office/drawing/2014/main" id="{74810E10-DDEB-45BA-A9D3-72BF273CC58C}"/>
              </a:ext>
            </a:extLst>
          </p:cNvPr>
          <p:cNvSpPr>
            <a:spLocks xmlns:a="http://schemas.openxmlformats.org/drawingml/2006/main" noGrp="1"/>
          </p:cNvSpPr>
          <p:nvPr/>
        </p:nvSpPr>
        <p:spPr>
          <a:xfrm xmlns:a="http://schemas.openxmlformats.org/drawingml/2006/main">
            <a:off x="9124950" y="4114800"/>
            <a:ext cx="27717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Score assessed sessions.</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Show deductions and fixes.</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Export evidence as</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JSON, HTML or PDF.</a:t>
            </a:r>
          </a:p>
        </p:txBody>
      </p:sp>
      <p:sp>
        <p:nvSpPr>
          <p:cNvPr id="17425" name="">
            <a:extLst xmlns:a="http://schemas.openxmlformats.org/drawingml/2006/main">
              <a:ext uri="{FF2B5EF4-FFF2-40B4-BE49-F238E27FC236}">
                <a16:creationId xmlns:a16="http://schemas.microsoft.com/office/drawing/2014/main" id="{9982E536-BD9B-4708-8082-1616441DE50A}"/>
              </a:ext>
            </a:extLst>
          </p:cNvPr>
          <p:cNvSpPr>
            <a:spLocks xmlns:a="http://schemas.openxmlformats.org/drawingml/2006/main" noGrp="1"/>
          </p:cNvSpPr>
          <p:nvPr/>
        </p:nvSpPr>
        <p:spPr>
          <a:xfrm xmlns:a="http://schemas.openxmlformats.org/drawingml/2006/main">
            <a:off x="533400" y="5629275"/>
            <a:ext cx="1114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43F59"/>
                </a:solidFill>
                <a:latin typeface="Arial"/>
                <a:ea typeface="Arial"/>
                <a:cs typeface="Arial"/>
              </a:defRPr>
            </a:pPr>
            <a:r>
              <a:rPr sz="1575" b="0">
                <a:solidFill>
                  <a:srgbClr val="143F59"/>
                </a:solidFill>
                <a:latin typeface="Arial"/>
                <a:ea typeface="Arial"/>
                <a:cs typeface="Arial"/>
              </a:rPr>
              <a:t>React + TypeScript / FastAPI + Python / TShark + Scapy / SQLite</a:t>
            </a:r>
          </a:p>
        </p:txBody>
      </p:sp>
      <p:sp>
        <p:nvSpPr>
          <p:cNvPr id="17426" name="">
            <a:extLst xmlns:a="http://schemas.openxmlformats.org/drawingml/2006/main">
              <a:ext uri="{FF2B5EF4-FFF2-40B4-BE49-F238E27FC236}">
                <a16:creationId xmlns:a16="http://schemas.microsoft.com/office/drawing/2014/main" id="{6DF9E7FD-CAD0-4E57-9E67-92F9FA8F6D58}"/>
              </a:ext>
            </a:extLst>
          </p:cNvPr>
          <p:cNvSpPr>
            <a:spLocks xmlns:a="http://schemas.openxmlformats.org/drawingml/2006/main" noGrp="1"/>
          </p:cNvSpPr>
          <p:nvPr/>
        </p:nvSpPr>
        <p:spPr>
          <a:xfrm xmlns:a="http://schemas.openxmlformats.org/drawingml/2006/main">
            <a:off x="533400" y="5943600"/>
            <a:ext cx="1114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98B88"/>
                </a:solidFill>
                <a:latin typeface="Arial"/>
                <a:ea typeface="Arial"/>
                <a:cs typeface="Arial"/>
              </a:defRPr>
            </a:pPr>
            <a:r>
              <a:rPr sz="1575" b="0">
                <a:solidFill>
                  <a:srgbClr val="198B88"/>
                </a:solidFill>
                <a:latin typeface="Arial"/>
                <a:ea typeface="Arial"/>
                <a:cs typeface="Arial"/>
              </a:rPr>
              <a:t>Score: 100 minus rule and ML deductions. Incomplete sessions remain unscored.</a:t>
            </a:r>
          </a:p>
        </p:txBody>
      </p:sp>
    </p:spTree>
    <p:extLst>
      <p:ext uri="{BB962C8B-B14F-4D97-AF65-F5344CB8AC3E}">
        <p14:creationId xmlns:p14="http://schemas.microsoft.com/office/powerpoint/2010/main" val="498909473"/>
      </p:ext>
    </p:extLst>
  </p:cSld>
</p:sld>
</file>

<file path=ppt/slides/slide4.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143F59"/>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a:solidFill xmlns:a="http://schemas.openxmlformats.org/drawingml/2006/main">
            <a:srgbClr val="E9F5F3"/>
          </a:solidFill>
          <a:ln xmlns:a="http://schemas.openxmlformats.org/drawingml/2006/main" w="19050">
            <a:solidFill>
              <a:srgbClr val="198B88"/>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p:txBody>
      </p:sp>
      <p:pic>
        <p:nvPicPr>
          <p:cNvPr id="17436" name="Picture 10"/>
          <p:cNvPicPr>
            <a:picLocks xmlns:a="http://schemas.openxmlformats.org/drawingml/2006/main" noChangeAspect="1"/>
          </p:cNvPicPr>
          <p:nvPr/>
        </p:nvPicPr>
        <p:blipFill>
          <a:blip xmlns:r="http://schemas.openxmlformats.org/officeDocument/2006/relationships" xmlns:a="http://schemas.openxmlformats.org/drawingml/2006/main" r:embed="R3af530d088754f52"/>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26C03535-87E0-41A9-A535-33126A1880AD}"/>
              </a:ext>
            </a:extLst>
          </p:cNvPr>
          <p:cNvSpPr>
            <a:spLocks xmlns:a="http://schemas.openxmlformats.org/drawingml/2006/main" noGrp="1"/>
          </p:cNvSpPr>
          <p:nvPr/>
        </p:nvSpPr>
        <p:spPr>
          <a:xfrm xmlns:a="http://schemas.openxmlformats.org/drawingml/2006/main">
            <a:off x="285750" y="457200"/>
            <a:ext cx="140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143F59"/>
                </a:solidFill>
                <a:latin typeface="Arial"/>
                <a:ea typeface="Arial"/>
                <a:cs typeface="Arial"/>
              </a:defRPr>
            </a:pPr>
            <a:r>
              <a:rPr sz="1275" b="1">
                <a:solidFill>
                  <a:srgbClr val="143F59"/>
                </a:solidFill>
                <a:latin typeface="Arial"/>
                <a:ea typeface="Arial"/>
                <a:cs typeface="Arial"/>
              </a:rPr>
              <a:t>Crypterpillars</a:t>
            </a:r>
          </a:p>
        </p:txBody>
      </p:sp>
      <p:sp>
        <p:nvSpPr>
          <p:cNvPr id="17413" name="">
            <a:extLst xmlns:a="http://schemas.openxmlformats.org/drawingml/2006/main">
              <a:ext uri="{FF2B5EF4-FFF2-40B4-BE49-F238E27FC236}">
                <a16:creationId xmlns:a16="http://schemas.microsoft.com/office/drawing/2014/main" id="{9BA02D92-1007-4F3B-A96E-A27D36B70631}"/>
              </a:ext>
            </a:extLst>
          </p:cNvPr>
          <p:cNvSpPr>
            <a:spLocks xmlns:a="http://schemas.openxmlformats.org/drawingml/2006/main" noGrp="1"/>
          </p:cNvSpPr>
          <p:nvPr/>
        </p:nvSpPr>
        <p:spPr>
          <a:xfrm xmlns:a="http://schemas.openxmlformats.org/drawingml/2006/main">
            <a:off x="1857375" y="247650"/>
            <a:ext cx="7810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225" b="1">
                <a:solidFill>
                  <a:srgbClr val="143F59"/>
                </a:solidFill>
                <a:latin typeface="Times New Roman"/>
                <a:ea typeface="Times New Roman"/>
                <a:cs typeface="Times New Roman"/>
              </a:defRPr>
            </a:pPr>
            <a:r>
              <a:rPr sz="3225" b="1">
                <a:solidFill>
                  <a:srgbClr val="143F59"/>
                </a:solidFill>
                <a:latin typeface="Times New Roman"/>
                <a:ea typeface="Times New Roman"/>
                <a:cs typeface="Times New Roman"/>
              </a:rPr>
              <a:t>FEASIBILITY AND BENEFITS</a:t>
            </a:r>
          </a:p>
        </p:txBody>
      </p:sp>
      <p:sp>
        <p:nvSpPr>
          <p:cNvPr id="17414" name="">
            <a:extLst xmlns:a="http://schemas.openxmlformats.org/drawingml/2006/main">
              <a:ext uri="{FF2B5EF4-FFF2-40B4-BE49-F238E27FC236}">
                <a16:creationId xmlns:a16="http://schemas.microsoft.com/office/drawing/2014/main" id="{62D42F0C-69C6-46AA-A699-D906694BDFF2}"/>
              </a:ext>
            </a:extLst>
          </p:cNvPr>
          <p:cNvSpPr>
            <a:spLocks xmlns:a="http://schemas.openxmlformats.org/drawingml/2006/main" noGrp="1"/>
          </p:cNvSpPr>
          <p:nvPr/>
        </p:nvSpPr>
        <p:spPr>
          <a:xfrm xmlns:a="http://schemas.openxmlformats.org/drawingml/2006/main">
            <a:off x="4648200" y="6400800"/>
            <a:ext cx="320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a:solidFill>
                  <a:srgbClr val="FFFFFF"/>
                </a:solidFill>
                <a:latin typeface="Arial"/>
                <a:ea typeface="Arial"/>
                <a:cs typeface="Arial"/>
              </a:defRPr>
            </a:pPr>
            <a:r>
              <a:rPr sz="1050" b="0">
                <a:solidFill>
                  <a:srgbClr val="FFFFFF"/>
                </a:solidFill>
                <a:latin typeface="Arial"/>
                <a:ea typeface="Arial"/>
                <a:cs typeface="Arial"/>
              </a:rPr>
              <a:t>SecureMailScope / SIH 2026</a:t>
            </a:r>
          </a:p>
        </p:txBody>
      </p:sp>
      <p:sp>
        <p:nvSpPr>
          <p:cNvPr id="17415" name="">
            <a:extLst xmlns:a="http://schemas.openxmlformats.org/drawingml/2006/main">
              <a:ext uri="{FF2B5EF4-FFF2-40B4-BE49-F238E27FC236}">
                <a16:creationId xmlns:a16="http://schemas.microsoft.com/office/drawing/2014/main" id="{DBCFD46B-5CD2-4C60-82A8-A04C7F184E14}"/>
              </a:ext>
            </a:extLst>
          </p:cNvPr>
          <p:cNvSpPr>
            <a:spLocks xmlns:a="http://schemas.openxmlformats.org/drawingml/2006/main" noGrp="1"/>
          </p:cNvSpPr>
          <p:nvPr/>
        </p:nvSpPr>
        <p:spPr>
          <a:xfrm xmlns:a="http://schemas.openxmlformats.org/drawingml/2006/main">
            <a:off x="11239500" y="64008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7416" name="">
            <a:extLst xmlns:a="http://schemas.openxmlformats.org/drawingml/2006/main">
              <a:ext uri="{FF2B5EF4-FFF2-40B4-BE49-F238E27FC236}">
                <a16:creationId xmlns:a16="http://schemas.microsoft.com/office/drawing/2014/main" id="{E804EC37-472B-4386-ADAF-B0E7CAB83E08}"/>
              </a:ext>
            </a:extLst>
          </p:cNvPr>
          <p:cNvSpPr>
            <a:spLocks xmlns:a="http://schemas.openxmlformats.org/drawingml/2006/main" noGrp="1"/>
          </p:cNvSpPr>
          <p:nvPr/>
        </p:nvSpPr>
        <p:spPr>
          <a:xfrm xmlns:a="http://schemas.openxmlformats.org/drawingml/2006/main">
            <a:off x="533400" y="1400175"/>
            <a:ext cx="3238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175" b="1">
                <a:solidFill>
                  <a:srgbClr val="198B88"/>
                </a:solidFill>
                <a:latin typeface="Times New Roman"/>
                <a:ea typeface="Times New Roman"/>
                <a:cs typeface="Times New Roman"/>
              </a:defRPr>
            </a:pPr>
            <a:r>
              <a:rPr sz="5175" b="1">
                <a:solidFill>
                  <a:srgbClr val="198B88"/>
                </a:solidFill>
                <a:latin typeface="Times New Roman"/>
                <a:ea typeface="Times New Roman"/>
                <a:cs typeface="Times New Roman"/>
              </a:rPr>
              <a:t>01</a:t>
            </a:r>
          </a:p>
        </p:txBody>
      </p:sp>
      <p:sp>
        <p:nvSpPr>
          <p:cNvPr id="17417" name="">
            <a:extLst xmlns:a="http://schemas.openxmlformats.org/drawingml/2006/main">
              <a:ext uri="{FF2B5EF4-FFF2-40B4-BE49-F238E27FC236}">
                <a16:creationId xmlns:a16="http://schemas.microsoft.com/office/drawing/2014/main" id="{06DC768C-BA93-469F-BBD1-60668A235983}"/>
              </a:ext>
            </a:extLst>
          </p:cNvPr>
          <p:cNvSpPr>
            <a:spLocks xmlns:a="http://schemas.openxmlformats.org/drawingml/2006/main" noGrp="1"/>
          </p:cNvSpPr>
          <p:nvPr/>
        </p:nvSpPr>
        <p:spPr>
          <a:xfrm xmlns:a="http://schemas.openxmlformats.org/drawingml/2006/main">
            <a:off x="533400" y="2352675"/>
            <a:ext cx="3486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98B88"/>
                </a:solidFill>
                <a:latin typeface="Arial"/>
                <a:ea typeface="Arial"/>
                <a:cs typeface="Arial"/>
              </a:defRPr>
            </a:pPr>
            <a:r>
              <a:rPr sz="2175" b="1">
                <a:solidFill>
                  <a:srgbClr val="198B88"/>
                </a:solidFill>
                <a:latin typeface="Arial"/>
                <a:ea typeface="Arial"/>
                <a:cs typeface="Arial"/>
              </a:rPr>
              <a:t>Working prototype</a:t>
            </a:r>
          </a:p>
        </p:txBody>
      </p:sp>
      <p:sp>
        <p:nvSpPr>
          <p:cNvPr id="17418" name="">
            <a:extLst xmlns:a="http://schemas.openxmlformats.org/drawingml/2006/main">
              <a:ext uri="{FF2B5EF4-FFF2-40B4-BE49-F238E27FC236}">
                <a16:creationId xmlns:a16="http://schemas.microsoft.com/office/drawing/2014/main" id="{F03F9E66-0F10-4C97-B533-EB90A934EBD3}"/>
              </a:ext>
            </a:extLst>
          </p:cNvPr>
          <p:cNvSpPr>
            <a:spLocks xmlns:a="http://schemas.openxmlformats.org/drawingml/2006/main" noGrp="1"/>
          </p:cNvSpPr>
          <p:nvPr/>
        </p:nvSpPr>
        <p:spPr>
          <a:xfrm xmlns:a="http://schemas.openxmlformats.org/drawingml/2006/main">
            <a:off x="533400" y="3105150"/>
            <a:ext cx="3495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43F59"/>
                </a:solidFill>
                <a:latin typeface="Arial"/>
                <a:ea typeface="Arial"/>
                <a:cs typeface="Arial"/>
              </a:defRPr>
            </a:pPr>
            <a:r>
              <a:rPr sz="1800" b="1">
                <a:solidFill>
                  <a:srgbClr val="143F59"/>
                </a:solidFill>
                <a:latin typeface="Arial"/>
                <a:ea typeface="Arial"/>
                <a:cs typeface="Arial"/>
              </a:rPr>
              <a:t>Local analysis and reports</a:t>
            </a:r>
          </a:p>
        </p:txBody>
      </p:sp>
      <p:sp>
        <p:nvSpPr>
          <p:cNvPr id="17419" name="">
            <a:extLst xmlns:a="http://schemas.openxmlformats.org/drawingml/2006/main">
              <a:ext uri="{FF2B5EF4-FFF2-40B4-BE49-F238E27FC236}">
                <a16:creationId xmlns:a16="http://schemas.microsoft.com/office/drawing/2014/main" id="{EDE1781A-4C52-46EB-B4D5-C21BCDBD44B4}"/>
              </a:ext>
            </a:extLst>
          </p:cNvPr>
          <p:cNvSpPr>
            <a:spLocks xmlns:a="http://schemas.openxmlformats.org/drawingml/2006/main" noGrp="1"/>
          </p:cNvSpPr>
          <p:nvPr/>
        </p:nvSpPr>
        <p:spPr>
          <a:xfrm xmlns:a="http://schemas.openxmlformats.org/drawingml/2006/main">
            <a:off x="533400" y="3486150"/>
            <a:ext cx="34956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Local capture processing with</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saved history, session evidence</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and downloadable reports.</a:t>
            </a:r>
          </a:p>
        </p:txBody>
      </p:sp>
      <p:sp>
        <p:nvSpPr>
          <p:cNvPr id="17420" name="">
            <a:extLst xmlns:a="http://schemas.openxmlformats.org/drawingml/2006/main">
              <a:ext uri="{FF2B5EF4-FFF2-40B4-BE49-F238E27FC236}">
                <a16:creationId xmlns:a16="http://schemas.microsoft.com/office/drawing/2014/main" id="{87C2C242-48FC-42BC-A048-3F7E9A35EB4F}"/>
              </a:ext>
            </a:extLst>
          </p:cNvPr>
          <p:cNvSpPr>
            <a:spLocks xmlns:a="http://schemas.openxmlformats.org/drawingml/2006/main" noGrp="1"/>
          </p:cNvSpPr>
          <p:nvPr/>
        </p:nvSpPr>
        <p:spPr>
          <a:xfrm xmlns:a="http://schemas.openxmlformats.org/drawingml/2006/main">
            <a:off x="533400" y="4552950"/>
            <a:ext cx="3495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43F59"/>
                </a:solidFill>
                <a:latin typeface="Arial"/>
                <a:ea typeface="Arial"/>
                <a:cs typeface="Arial"/>
              </a:defRPr>
            </a:pPr>
            <a:r>
              <a:rPr sz="1800" b="1">
                <a:solidFill>
                  <a:srgbClr val="143F59"/>
                </a:solidFill>
                <a:latin typeface="Arial"/>
                <a:ea typeface="Arial"/>
                <a:cs typeface="Arial"/>
              </a:rPr>
              <a:t>Repeatable validation</a:t>
            </a:r>
          </a:p>
        </p:txBody>
      </p:sp>
      <p:sp>
        <p:nvSpPr>
          <p:cNvPr id="17421" name="">
            <a:extLst xmlns:a="http://schemas.openxmlformats.org/drawingml/2006/main">
              <a:ext uri="{FF2B5EF4-FFF2-40B4-BE49-F238E27FC236}">
                <a16:creationId xmlns:a16="http://schemas.microsoft.com/office/drawing/2014/main" id="{CA52575B-CBEE-4E71-AAB4-5593A01DF45C}"/>
              </a:ext>
            </a:extLst>
          </p:cNvPr>
          <p:cNvSpPr>
            <a:spLocks xmlns:a="http://schemas.openxmlformats.org/drawingml/2006/main" noGrp="1"/>
          </p:cNvSpPr>
          <p:nvPr/>
        </p:nvSpPr>
        <p:spPr>
          <a:xfrm xmlns:a="http://schemas.openxmlformats.org/drawingml/2006/main">
            <a:off x="533400" y="4943475"/>
            <a:ext cx="349567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Synthetic fixtures cover plaintext</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auth, failed upgrades and expiry.</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They use the same parser</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as uploaded captures.</a:t>
            </a:r>
          </a:p>
        </p:txBody>
      </p:sp>
      <p:sp>
        <p:nvSpPr>
          <p:cNvPr id="17422" name="">
            <a:extLst xmlns:a="http://schemas.openxmlformats.org/drawingml/2006/main">
              <a:ext uri="{FF2B5EF4-FFF2-40B4-BE49-F238E27FC236}">
                <a16:creationId xmlns:a16="http://schemas.microsoft.com/office/drawing/2014/main" id="{3F7D0423-ACB0-4DA7-8EEF-606FAEB6C81A}"/>
              </a:ext>
            </a:extLst>
          </p:cNvPr>
          <p:cNvSpPr>
            <a:spLocks xmlns:a="http://schemas.openxmlformats.org/drawingml/2006/main" noGrp="1"/>
          </p:cNvSpPr>
          <p:nvPr/>
        </p:nvSpPr>
        <p:spPr>
          <a:xfrm xmlns:a="http://schemas.openxmlformats.org/drawingml/2006/main">
            <a:off x="4362450" y="1400175"/>
            <a:ext cx="3238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175" b="1">
                <a:solidFill>
                  <a:srgbClr val="C8763E"/>
                </a:solidFill>
                <a:latin typeface="Times New Roman"/>
                <a:ea typeface="Times New Roman"/>
                <a:cs typeface="Times New Roman"/>
              </a:defRPr>
            </a:pPr>
            <a:r>
              <a:rPr sz="5175" b="1">
                <a:solidFill>
                  <a:srgbClr val="C8763E"/>
                </a:solidFill>
                <a:latin typeface="Times New Roman"/>
                <a:ea typeface="Times New Roman"/>
                <a:cs typeface="Times New Roman"/>
              </a:rPr>
              <a:t>02</a:t>
            </a:r>
          </a:p>
        </p:txBody>
      </p:sp>
      <p:sp>
        <p:nvSpPr>
          <p:cNvPr id="17423" name="">
            <a:extLst xmlns:a="http://schemas.openxmlformats.org/drawingml/2006/main">
              <a:ext uri="{FF2B5EF4-FFF2-40B4-BE49-F238E27FC236}">
                <a16:creationId xmlns:a16="http://schemas.microsoft.com/office/drawing/2014/main" id="{FE6DF9C0-C2AE-43D9-8391-02A5C1F29D11}"/>
              </a:ext>
            </a:extLst>
          </p:cNvPr>
          <p:cNvSpPr>
            <a:spLocks xmlns:a="http://schemas.openxmlformats.org/drawingml/2006/main" noGrp="1"/>
          </p:cNvSpPr>
          <p:nvPr/>
        </p:nvSpPr>
        <p:spPr>
          <a:xfrm xmlns:a="http://schemas.openxmlformats.org/drawingml/2006/main">
            <a:off x="4362450" y="2352675"/>
            <a:ext cx="3486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C8763E"/>
                </a:solidFill>
                <a:latin typeface="Arial"/>
                <a:ea typeface="Arial"/>
                <a:cs typeface="Arial"/>
              </a:defRPr>
            </a:pPr>
            <a:r>
              <a:rPr sz="2175" b="1">
                <a:solidFill>
                  <a:srgbClr val="C8763E"/>
                </a:solidFill>
                <a:latin typeface="Arial"/>
                <a:ea typeface="Arial"/>
                <a:cs typeface="Arial"/>
              </a:rPr>
              <a:t>Evidence limits</a:t>
            </a:r>
          </a:p>
        </p:txBody>
      </p:sp>
      <p:sp>
        <p:nvSpPr>
          <p:cNvPr id="17424" name="">
            <a:extLst xmlns:a="http://schemas.openxmlformats.org/drawingml/2006/main">
              <a:ext uri="{FF2B5EF4-FFF2-40B4-BE49-F238E27FC236}">
                <a16:creationId xmlns:a16="http://schemas.microsoft.com/office/drawing/2014/main" id="{D544E470-E77A-4630-8653-879831515698}"/>
              </a:ext>
            </a:extLst>
          </p:cNvPr>
          <p:cNvSpPr>
            <a:spLocks xmlns:a="http://schemas.openxmlformats.org/drawingml/2006/main" noGrp="1"/>
          </p:cNvSpPr>
          <p:nvPr/>
        </p:nvSpPr>
        <p:spPr>
          <a:xfrm xmlns:a="http://schemas.openxmlformats.org/drawingml/2006/main">
            <a:off x="4362450" y="3105150"/>
            <a:ext cx="3495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43F59"/>
                </a:solidFill>
                <a:latin typeface="Arial"/>
                <a:ea typeface="Arial"/>
                <a:cs typeface="Arial"/>
              </a:defRPr>
            </a:pPr>
            <a:r>
              <a:rPr sz="1800" b="1">
                <a:solidFill>
                  <a:srgbClr val="143F59"/>
                </a:solidFill>
                <a:latin typeface="Arial"/>
                <a:ea typeface="Arial"/>
                <a:cs typeface="Arial"/>
              </a:rPr>
              <a:t>Encrypted or missing data</a:t>
            </a:r>
          </a:p>
        </p:txBody>
      </p:sp>
      <p:sp>
        <p:nvSpPr>
          <p:cNvPr id="17425" name="">
            <a:extLst xmlns:a="http://schemas.openxmlformats.org/drawingml/2006/main">
              <a:ext uri="{FF2B5EF4-FFF2-40B4-BE49-F238E27FC236}">
                <a16:creationId xmlns:a16="http://schemas.microsoft.com/office/drawing/2014/main" id="{EB89E838-E474-4BCD-B224-FB64E676C683}"/>
              </a:ext>
            </a:extLst>
          </p:cNvPr>
          <p:cNvSpPr>
            <a:spLocks xmlns:a="http://schemas.openxmlformats.org/drawingml/2006/main" noGrp="1"/>
          </p:cNvSpPr>
          <p:nvPr/>
        </p:nvSpPr>
        <p:spPr>
          <a:xfrm xmlns:a="http://schemas.openxmlformats.org/drawingml/2006/main">
            <a:off x="4362450" y="3486150"/>
            <a:ext cx="34956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TLS 1.3 encrypts certificates.</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Partial captures omit evidence.</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ML needs broader validation.</a:t>
            </a:r>
          </a:p>
        </p:txBody>
      </p:sp>
      <p:sp>
        <p:nvSpPr>
          <p:cNvPr id="17426" name="">
            <a:extLst xmlns:a="http://schemas.openxmlformats.org/drawingml/2006/main">
              <a:ext uri="{FF2B5EF4-FFF2-40B4-BE49-F238E27FC236}">
                <a16:creationId xmlns:a16="http://schemas.microsoft.com/office/drawing/2014/main" id="{46FB6742-6D54-4CEE-B21E-D3228642F089}"/>
              </a:ext>
            </a:extLst>
          </p:cNvPr>
          <p:cNvSpPr>
            <a:spLocks xmlns:a="http://schemas.openxmlformats.org/drawingml/2006/main" noGrp="1"/>
          </p:cNvSpPr>
          <p:nvPr/>
        </p:nvSpPr>
        <p:spPr>
          <a:xfrm xmlns:a="http://schemas.openxmlformats.org/drawingml/2006/main">
            <a:off x="4362450" y="4552950"/>
            <a:ext cx="3495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43F59"/>
                </a:solidFill>
                <a:latin typeface="Arial"/>
                <a:ea typeface="Arial"/>
                <a:cs typeface="Arial"/>
              </a:defRPr>
            </a:pPr>
            <a:r>
              <a:rPr sz="1800" b="1">
                <a:solidFill>
                  <a:srgbClr val="143F59"/>
                </a:solidFill>
                <a:latin typeface="Arial"/>
                <a:ea typeface="Arial"/>
                <a:cs typeface="Arial"/>
              </a:rPr>
              <a:t>Explicit uncertainty</a:t>
            </a:r>
          </a:p>
        </p:txBody>
      </p:sp>
      <p:sp>
        <p:nvSpPr>
          <p:cNvPr id="17427" name="">
            <a:extLst xmlns:a="http://schemas.openxmlformats.org/drawingml/2006/main">
              <a:ext uri="{FF2B5EF4-FFF2-40B4-BE49-F238E27FC236}">
                <a16:creationId xmlns:a16="http://schemas.microsoft.com/office/drawing/2014/main" id="{F5E36052-DE54-4C1A-9413-2D1A91D0A79B}"/>
              </a:ext>
            </a:extLst>
          </p:cNvPr>
          <p:cNvSpPr>
            <a:spLocks xmlns:a="http://schemas.openxmlformats.org/drawingml/2006/main" noGrp="1"/>
          </p:cNvSpPr>
          <p:nvPr/>
        </p:nvSpPr>
        <p:spPr>
          <a:xfrm xmlns:a="http://schemas.openxmlformats.org/drawingml/2006/main">
            <a:off x="4362450" y="4943475"/>
            <a:ext cx="349567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Keep unknowns visible and</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incomplete sessions unscored.</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Evaluate ML on representative</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real traffic before deployment.</a:t>
            </a:r>
          </a:p>
        </p:txBody>
      </p:sp>
      <p:sp>
        <p:nvSpPr>
          <p:cNvPr id="17428" name="">
            <a:extLst xmlns:a="http://schemas.openxmlformats.org/drawingml/2006/main">
              <a:ext uri="{FF2B5EF4-FFF2-40B4-BE49-F238E27FC236}">
                <a16:creationId xmlns:a16="http://schemas.microsoft.com/office/drawing/2014/main" id="{C4867094-350E-4F76-8783-A5CCDC8749C8}"/>
              </a:ext>
            </a:extLst>
          </p:cNvPr>
          <p:cNvSpPr>
            <a:spLocks xmlns:a="http://schemas.openxmlformats.org/drawingml/2006/main" noGrp="1"/>
          </p:cNvSpPr>
          <p:nvPr/>
        </p:nvSpPr>
        <p:spPr>
          <a:xfrm xmlns:a="http://schemas.openxmlformats.org/drawingml/2006/main">
            <a:off x="8191500" y="1400175"/>
            <a:ext cx="3238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175" b="1">
                <a:solidFill>
                  <a:srgbClr val="143F59"/>
                </a:solidFill>
                <a:latin typeface="Times New Roman"/>
                <a:ea typeface="Times New Roman"/>
                <a:cs typeface="Times New Roman"/>
              </a:defRPr>
            </a:pPr>
            <a:r>
              <a:rPr sz="5175" b="1">
                <a:solidFill>
                  <a:srgbClr val="143F59"/>
                </a:solidFill>
                <a:latin typeface="Times New Roman"/>
                <a:ea typeface="Times New Roman"/>
                <a:cs typeface="Times New Roman"/>
              </a:rPr>
              <a:t>03</a:t>
            </a:r>
          </a:p>
        </p:txBody>
      </p:sp>
      <p:sp>
        <p:nvSpPr>
          <p:cNvPr id="17429" name="">
            <a:extLst xmlns:a="http://schemas.openxmlformats.org/drawingml/2006/main">
              <a:ext uri="{FF2B5EF4-FFF2-40B4-BE49-F238E27FC236}">
                <a16:creationId xmlns:a16="http://schemas.microsoft.com/office/drawing/2014/main" id="{FC36C514-3268-4049-9945-19C9D2D9B9D2}"/>
              </a:ext>
            </a:extLst>
          </p:cNvPr>
          <p:cNvSpPr>
            <a:spLocks xmlns:a="http://schemas.openxmlformats.org/drawingml/2006/main" noGrp="1"/>
          </p:cNvSpPr>
          <p:nvPr/>
        </p:nvSpPr>
        <p:spPr>
          <a:xfrm xmlns:a="http://schemas.openxmlformats.org/drawingml/2006/main">
            <a:off x="8191500" y="2352675"/>
            <a:ext cx="3486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43F59"/>
                </a:solidFill>
                <a:latin typeface="Arial"/>
                <a:ea typeface="Arial"/>
                <a:cs typeface="Arial"/>
              </a:defRPr>
            </a:pPr>
            <a:r>
              <a:rPr sz="2175" b="1">
                <a:solidFill>
                  <a:srgbClr val="143F59"/>
                </a:solidFill>
                <a:latin typeface="Arial"/>
                <a:ea typeface="Arial"/>
                <a:cs typeface="Arial"/>
              </a:rPr>
              <a:t>Expected benefits</a:t>
            </a:r>
          </a:p>
        </p:txBody>
      </p:sp>
      <p:sp>
        <p:nvSpPr>
          <p:cNvPr id="17430" name="">
            <a:extLst xmlns:a="http://schemas.openxmlformats.org/drawingml/2006/main">
              <a:ext uri="{FF2B5EF4-FFF2-40B4-BE49-F238E27FC236}">
                <a16:creationId xmlns:a16="http://schemas.microsoft.com/office/drawing/2014/main" id="{8B3307B7-302F-4015-BEEA-B0E635307F31}"/>
              </a:ext>
            </a:extLst>
          </p:cNvPr>
          <p:cNvSpPr>
            <a:spLocks xmlns:a="http://schemas.openxmlformats.org/drawingml/2006/main" noGrp="1"/>
          </p:cNvSpPr>
          <p:nvPr/>
        </p:nvSpPr>
        <p:spPr>
          <a:xfrm xmlns:a="http://schemas.openxmlformats.org/drawingml/2006/main">
            <a:off x="8191500" y="3105150"/>
            <a:ext cx="3495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43F59"/>
                </a:solidFill>
                <a:latin typeface="Arial"/>
                <a:ea typeface="Arial"/>
                <a:cs typeface="Arial"/>
              </a:defRPr>
            </a:pPr>
            <a:r>
              <a:rPr sz="1800" b="1">
                <a:solidFill>
                  <a:srgbClr val="143F59"/>
                </a:solidFill>
                <a:latin typeface="Arial"/>
                <a:ea typeface="Arial"/>
                <a:cs typeface="Arial"/>
              </a:rPr>
              <a:t>More focused remediation</a:t>
            </a:r>
          </a:p>
        </p:txBody>
      </p:sp>
      <p:sp>
        <p:nvSpPr>
          <p:cNvPr id="17431" name="">
            <a:extLst xmlns:a="http://schemas.openxmlformats.org/drawingml/2006/main">
              <a:ext uri="{FF2B5EF4-FFF2-40B4-BE49-F238E27FC236}">
                <a16:creationId xmlns:a16="http://schemas.microsoft.com/office/drawing/2014/main" id="{5244A0F0-1C9B-423B-B8A7-D7173F82E5F7}"/>
              </a:ext>
            </a:extLst>
          </p:cNvPr>
          <p:cNvSpPr>
            <a:spLocks xmlns:a="http://schemas.openxmlformats.org/drawingml/2006/main" noGrp="1"/>
          </p:cNvSpPr>
          <p:nvPr/>
        </p:nvSpPr>
        <p:spPr>
          <a:xfrm xmlns:a="http://schemas.openxmlformats.org/drawingml/2006/main">
            <a:off x="8191500" y="3486150"/>
            <a:ext cx="34956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Help administrators and SOC</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analysts prioritize weak TLS,</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certificates and exposed auth.</a:t>
            </a:r>
          </a:p>
        </p:txBody>
      </p:sp>
      <p:sp>
        <p:nvSpPr>
          <p:cNvPr id="17432" name="">
            <a:extLst xmlns:a="http://schemas.openxmlformats.org/drawingml/2006/main">
              <a:ext uri="{FF2B5EF4-FFF2-40B4-BE49-F238E27FC236}">
                <a16:creationId xmlns:a16="http://schemas.microsoft.com/office/drawing/2014/main" id="{83D51C00-DA15-4355-AC55-856E38A587FC}"/>
              </a:ext>
            </a:extLst>
          </p:cNvPr>
          <p:cNvSpPr>
            <a:spLocks xmlns:a="http://schemas.openxmlformats.org/drawingml/2006/main" noGrp="1"/>
          </p:cNvSpPr>
          <p:nvPr/>
        </p:nvSpPr>
        <p:spPr>
          <a:xfrm xmlns:a="http://schemas.openxmlformats.org/drawingml/2006/main">
            <a:off x="8191500" y="4552950"/>
            <a:ext cx="3495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43F59"/>
                </a:solidFill>
                <a:latin typeface="Arial"/>
                <a:ea typeface="Arial"/>
                <a:cs typeface="Arial"/>
              </a:defRPr>
            </a:pPr>
            <a:r>
              <a:rPr sz="1800" b="1">
                <a:solidFill>
                  <a:srgbClr val="143F59"/>
                </a:solidFill>
                <a:latin typeface="Arial"/>
                <a:ea typeface="Arial"/>
                <a:cs typeface="Arial"/>
              </a:rPr>
              <a:t>Less manual packet review</a:t>
            </a:r>
          </a:p>
        </p:txBody>
      </p:sp>
      <p:sp>
        <p:nvSpPr>
          <p:cNvPr id="17433" name="">
            <a:extLst xmlns:a="http://schemas.openxmlformats.org/drawingml/2006/main">
              <a:ext uri="{FF2B5EF4-FFF2-40B4-BE49-F238E27FC236}">
                <a16:creationId xmlns:a16="http://schemas.microsoft.com/office/drawing/2014/main" id="{27DC57E7-10C3-4363-B98A-03C8FAA12899}"/>
              </a:ext>
            </a:extLst>
          </p:cNvPr>
          <p:cNvSpPr>
            <a:spLocks xmlns:a="http://schemas.openxmlformats.org/drawingml/2006/main" noGrp="1"/>
          </p:cNvSpPr>
          <p:nvPr/>
        </p:nvSpPr>
        <p:spPr>
          <a:xfrm xmlns:a="http://schemas.openxmlformats.org/drawingml/2006/main">
            <a:off x="8191500" y="4943475"/>
            <a:ext cx="349567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Connect findings to frames and</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redact authentication arguments.</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Measure review time and false</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positives during future pilots.</a:t>
            </a:r>
          </a:p>
        </p:txBody>
      </p:sp>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143F59"/>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a:solidFill xmlns:a="http://schemas.openxmlformats.org/drawingml/2006/main">
            <a:srgbClr val="E9F5F3"/>
          </a:solidFill>
          <a:ln xmlns:a="http://schemas.openxmlformats.org/drawingml/2006/main" w="19050">
            <a:solidFill>
              <a:srgbClr val="198B88"/>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p:txBody>
      </p:sp>
      <p:pic>
        <p:nvPicPr>
          <p:cNvPr id="17424" name="Picture 10"/>
          <p:cNvPicPr>
            <a:picLocks xmlns:a="http://schemas.openxmlformats.org/drawingml/2006/main" noChangeAspect="1"/>
          </p:cNvPicPr>
          <p:nvPr/>
        </p:nvPicPr>
        <p:blipFill>
          <a:blip xmlns:r="http://schemas.openxmlformats.org/officeDocument/2006/relationships" xmlns:a="http://schemas.openxmlformats.org/drawingml/2006/main" r:embed="R16c21dfb3f5244e7"/>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7F224BC6-6A7C-4712-B2AB-5CC8E2048DBA}"/>
              </a:ext>
            </a:extLst>
          </p:cNvPr>
          <p:cNvSpPr>
            <a:spLocks xmlns:a="http://schemas.openxmlformats.org/drawingml/2006/main" noGrp="1"/>
          </p:cNvSpPr>
          <p:nvPr/>
        </p:nvSpPr>
        <p:spPr>
          <a:xfrm xmlns:a="http://schemas.openxmlformats.org/drawingml/2006/main">
            <a:off x="285750" y="457200"/>
            <a:ext cx="140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143F59"/>
                </a:solidFill>
                <a:latin typeface="Arial"/>
                <a:ea typeface="Arial"/>
                <a:cs typeface="Arial"/>
              </a:defRPr>
            </a:pPr>
            <a:r>
              <a:rPr sz="1275" b="1">
                <a:solidFill>
                  <a:srgbClr val="143F59"/>
                </a:solidFill>
                <a:latin typeface="Arial"/>
                <a:ea typeface="Arial"/>
                <a:cs typeface="Arial"/>
              </a:rPr>
              <a:t>Crypterpillars</a:t>
            </a:r>
          </a:p>
        </p:txBody>
      </p:sp>
      <p:sp>
        <p:nvSpPr>
          <p:cNvPr id="17413" name="">
            <a:extLst xmlns:a="http://schemas.openxmlformats.org/drawingml/2006/main">
              <a:ext uri="{FF2B5EF4-FFF2-40B4-BE49-F238E27FC236}">
                <a16:creationId xmlns:a16="http://schemas.microsoft.com/office/drawing/2014/main" id="{E07BC89E-D111-4594-B7D0-7AD25CE75B03}"/>
              </a:ext>
            </a:extLst>
          </p:cNvPr>
          <p:cNvSpPr>
            <a:spLocks xmlns:a="http://schemas.openxmlformats.org/drawingml/2006/main" noGrp="1"/>
          </p:cNvSpPr>
          <p:nvPr/>
        </p:nvSpPr>
        <p:spPr>
          <a:xfrm xmlns:a="http://schemas.openxmlformats.org/drawingml/2006/main">
            <a:off x="1857375" y="247650"/>
            <a:ext cx="7810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225" b="1">
                <a:solidFill>
                  <a:srgbClr val="143F59"/>
                </a:solidFill>
                <a:latin typeface="Times New Roman"/>
                <a:ea typeface="Times New Roman"/>
                <a:cs typeface="Times New Roman"/>
              </a:defRPr>
            </a:pPr>
            <a:r>
              <a:rPr sz="3225" b="1">
                <a:solidFill>
                  <a:srgbClr val="143F59"/>
                </a:solidFill>
                <a:latin typeface="Times New Roman"/>
                <a:ea typeface="Times New Roman"/>
                <a:cs typeface="Times New Roman"/>
              </a:rPr>
              <a:t>DEMONSTRATIVE WEB APP</a:t>
            </a:r>
          </a:p>
        </p:txBody>
      </p:sp>
      <p:sp>
        <p:nvSpPr>
          <p:cNvPr id="17414" name="">
            <a:extLst xmlns:a="http://schemas.openxmlformats.org/drawingml/2006/main">
              <a:ext uri="{FF2B5EF4-FFF2-40B4-BE49-F238E27FC236}">
                <a16:creationId xmlns:a16="http://schemas.microsoft.com/office/drawing/2014/main" id="{B031FEA2-E493-4E39-AF89-87BDE77D6D77}"/>
              </a:ext>
            </a:extLst>
          </p:cNvPr>
          <p:cNvSpPr>
            <a:spLocks xmlns:a="http://schemas.openxmlformats.org/drawingml/2006/main" noGrp="1"/>
          </p:cNvSpPr>
          <p:nvPr/>
        </p:nvSpPr>
        <p:spPr>
          <a:xfrm xmlns:a="http://schemas.openxmlformats.org/drawingml/2006/main">
            <a:off x="4648200" y="6400800"/>
            <a:ext cx="320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a:solidFill>
                  <a:srgbClr val="FFFFFF"/>
                </a:solidFill>
                <a:latin typeface="Arial"/>
                <a:ea typeface="Arial"/>
                <a:cs typeface="Arial"/>
              </a:defRPr>
            </a:pPr>
            <a:r>
              <a:rPr sz="1050" b="0">
                <a:solidFill>
                  <a:srgbClr val="FFFFFF"/>
                </a:solidFill>
                <a:latin typeface="Arial"/>
                <a:ea typeface="Arial"/>
                <a:cs typeface="Arial"/>
              </a:rPr>
              <a:t>SecureMailScope / SIH 2026</a:t>
            </a:r>
          </a:p>
        </p:txBody>
      </p:sp>
      <p:sp>
        <p:nvSpPr>
          <p:cNvPr id="17415" name="">
            <a:extLst xmlns:a="http://schemas.openxmlformats.org/drawingml/2006/main">
              <a:ext uri="{FF2B5EF4-FFF2-40B4-BE49-F238E27FC236}">
                <a16:creationId xmlns:a16="http://schemas.microsoft.com/office/drawing/2014/main" id="{DAA33E57-458A-4B7D-B3D0-F333F1FDE192}"/>
              </a:ext>
            </a:extLst>
          </p:cNvPr>
          <p:cNvSpPr>
            <a:spLocks xmlns:a="http://schemas.openxmlformats.org/drawingml/2006/main" noGrp="1"/>
          </p:cNvSpPr>
          <p:nvPr/>
        </p:nvSpPr>
        <p:spPr>
          <a:xfrm xmlns:a="http://schemas.openxmlformats.org/drawingml/2006/main">
            <a:off x="11239500" y="64008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7416" name="">
            <a:extLst xmlns:a="http://schemas.openxmlformats.org/drawingml/2006/main">
              <a:ext uri="{FF2B5EF4-FFF2-40B4-BE49-F238E27FC236}">
                <a16:creationId xmlns:a16="http://schemas.microsoft.com/office/drawing/2014/main" id="{0EC08295-0CB5-4E91-B3E4-8125F9400CE0}"/>
              </a:ext>
            </a:extLst>
          </p:cNvPr>
          <p:cNvSpPr>
            <a:spLocks xmlns:a="http://schemas.openxmlformats.org/drawingml/2006/main" noGrp="1"/>
          </p:cNvSpPr>
          <p:nvPr/>
        </p:nvSpPr>
        <p:spPr>
          <a:xfrm xmlns:a="http://schemas.openxmlformats.org/drawingml/2006/main">
            <a:off x="457200" y="1362075"/>
            <a:ext cx="676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8B88"/>
                </a:solidFill>
                <a:latin typeface="Arial"/>
                <a:ea typeface="Arial"/>
                <a:cs typeface="Arial"/>
              </a:defRPr>
            </a:pPr>
            <a:r>
              <a:rPr sz="2100" b="1">
                <a:solidFill>
                  <a:srgbClr val="198B88"/>
                </a:solidFill>
                <a:latin typeface="Arial"/>
                <a:ea typeface="Arial"/>
                <a:cs typeface="Arial"/>
              </a:rPr>
              <a:t>01  Capture analysis overview</a:t>
            </a:r>
          </a:p>
        </p:txBody>
      </p:sp>
      <p:pic>
        <p:nvPicPr>
          <p:cNvPr id="17430" name=""/>
          <p:cNvPicPr>
            <a:picLocks xmlns:a="http://schemas.openxmlformats.org/drawingml/2006/main" noChangeAspect="1"/>
          </p:cNvPicPr>
          <p:nvPr/>
        </p:nvPicPr>
        <p:blipFill>
          <a:blip xmlns:r="http://schemas.openxmlformats.org/officeDocument/2006/relationships" xmlns:a="http://schemas.openxmlformats.org/drawingml/2006/main" r:embed="R6061c72644d34155"/>
          <a:stretch xmlns:a="http://schemas.openxmlformats.org/drawingml/2006/main"/>
        </p:blipFill>
        <p:spPr>
          <a:xfrm xmlns:a="http://schemas.openxmlformats.org/drawingml/2006/main">
            <a:off x="885825" y="1828800"/>
            <a:ext cx="5905500" cy="2952750"/>
          </a:xfrm>
          <a:prstGeom xmlns:a="http://schemas.openxmlformats.org/drawingml/2006/main" prst="rect">
            <a:avLst/>
          </a:prstGeom>
        </p:spPr>
      </p:pic>
      <p:sp>
        <p:nvSpPr>
          <p:cNvPr id="17418" name="">
            <a:extLst xmlns:a="http://schemas.openxmlformats.org/drawingml/2006/main">
              <a:ext uri="{FF2B5EF4-FFF2-40B4-BE49-F238E27FC236}">
                <a16:creationId xmlns:a16="http://schemas.microsoft.com/office/drawing/2014/main" id="{9724AC9B-8C2B-4C1C-8755-F50A01FFBF74}"/>
              </a:ext>
            </a:extLst>
          </p:cNvPr>
          <p:cNvSpPr>
            <a:spLocks xmlns:a="http://schemas.openxmlformats.org/drawingml/2006/main" noGrp="1"/>
          </p:cNvSpPr>
          <p:nvPr/>
        </p:nvSpPr>
        <p:spPr>
          <a:xfrm xmlns:a="http://schemas.openxmlformats.org/drawingml/2006/main">
            <a:off x="7591425" y="1362075"/>
            <a:ext cx="4143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C8763E"/>
                </a:solidFill>
                <a:latin typeface="Arial"/>
                <a:ea typeface="Arial"/>
                <a:cs typeface="Arial"/>
              </a:defRPr>
            </a:pPr>
            <a:r>
              <a:rPr sz="1950" b="1">
                <a:solidFill>
                  <a:srgbClr val="C8763E"/>
                </a:solidFill>
                <a:latin typeface="Arial"/>
                <a:ea typeface="Arial"/>
                <a:cs typeface="Arial"/>
              </a:rPr>
              <a:t>02  Evidence and remediation</a:t>
            </a:r>
          </a:p>
        </p:txBody>
      </p:sp>
      <p:pic>
        <p:nvPicPr>
          <p:cNvPr id="17432" name=""/>
          <p:cNvPicPr>
            <a:picLocks xmlns:a="http://schemas.openxmlformats.org/drawingml/2006/main" noChangeAspect="1"/>
          </p:cNvPicPr>
          <p:nvPr/>
        </p:nvPicPr>
        <p:blipFill>
          <a:blip xmlns:r="http://schemas.openxmlformats.org/officeDocument/2006/relationships" xmlns:a="http://schemas.openxmlformats.org/drawingml/2006/main" r:embed="Ra316d192d7544d7d"/>
          <a:stretch xmlns:a="http://schemas.openxmlformats.org/drawingml/2006/main"/>
        </p:blipFill>
        <p:spPr>
          <a:xfrm xmlns:a="http://schemas.openxmlformats.org/drawingml/2006/main">
            <a:off x="7829550" y="1914525"/>
            <a:ext cx="3667125" cy="4191000"/>
          </a:xfrm>
          <a:prstGeom xmlns:a="http://schemas.openxmlformats.org/drawingml/2006/main" prst="rect">
            <a:avLst/>
          </a:prstGeom>
        </p:spPr>
      </p:pic>
      <p:sp>
        <p:nvSpPr>
          <p:cNvPr id="17420" name="">
            <a:extLst xmlns:a="http://schemas.openxmlformats.org/drawingml/2006/main">
              <a:ext uri="{FF2B5EF4-FFF2-40B4-BE49-F238E27FC236}">
                <a16:creationId xmlns:a16="http://schemas.microsoft.com/office/drawing/2014/main" id="{77A95CDE-1448-49E1-A99A-FA4E78AD8382}"/>
              </a:ext>
            </a:extLst>
          </p:cNvPr>
          <p:cNvSpPr>
            <a:spLocks xmlns:a="http://schemas.openxmlformats.org/drawingml/2006/main" noGrp="1"/>
          </p:cNvSpPr>
          <p:nvPr/>
        </p:nvSpPr>
        <p:spPr>
          <a:xfrm xmlns:a="http://schemas.openxmlformats.org/drawingml/2006/main">
            <a:off x="457200" y="4876800"/>
            <a:ext cx="676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98B88"/>
                </a:solidFill>
                <a:latin typeface="Arial"/>
                <a:ea typeface="Arial"/>
                <a:cs typeface="Arial"/>
              </a:defRPr>
            </a:pPr>
            <a:r>
              <a:rPr sz="1875" b="1">
                <a:solidFill>
                  <a:srgbClr val="198B88"/>
                </a:solidFill>
                <a:latin typeface="Arial"/>
                <a:ea typeface="Arial"/>
                <a:cs typeface="Arial"/>
              </a:rPr>
              <a:t>Demo: cleartext authentication</a:t>
            </a:r>
          </a:p>
        </p:txBody>
      </p:sp>
      <p:sp>
        <p:nvSpPr>
          <p:cNvPr id="17421" name="">
            <a:extLst xmlns:a="http://schemas.openxmlformats.org/drawingml/2006/main">
              <a:ext uri="{FF2B5EF4-FFF2-40B4-BE49-F238E27FC236}">
                <a16:creationId xmlns:a16="http://schemas.microsoft.com/office/drawing/2014/main" id="{3AC39055-BB22-4826-BF22-AA8971ACF608}"/>
              </a:ext>
            </a:extLst>
          </p:cNvPr>
          <p:cNvSpPr>
            <a:spLocks xmlns:a="http://schemas.openxmlformats.org/drawingml/2006/main" noGrp="1"/>
          </p:cNvSpPr>
          <p:nvPr/>
        </p:nvSpPr>
        <p:spPr>
          <a:xfrm xmlns:a="http://schemas.openxmlformats.org/drawingml/2006/main">
            <a:off x="457200" y="5353050"/>
            <a:ext cx="676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233B48"/>
                </a:solidFill>
                <a:latin typeface="Arial"/>
                <a:ea typeface="Arial"/>
                <a:cs typeface="Arial"/>
              </a:defRPr>
            </a:pPr>
            <a:r>
              <a:rPr sz="1575" b="0">
                <a:solidFill>
                  <a:srgbClr val="233B48"/>
                </a:solidFill>
                <a:latin typeface="Arial"/>
                <a:ea typeface="Arial"/>
                <a:cs typeface="Arial"/>
              </a:rPr>
              <a:t>1. Analyze the synthetic capture: 3 sessions, 3 critical findings.</a:t>
            </a:r>
          </a:p>
          <a:p xmlns:a="http://schemas.openxmlformats.org/drawingml/2006/main">
            <a:pPr algn="l">
              <a:defRPr sz="1575" b="0">
                <a:solidFill>
                  <a:srgbClr val="233B48"/>
                </a:solidFill>
                <a:latin typeface="Arial"/>
                <a:ea typeface="Arial"/>
                <a:cs typeface="Arial"/>
              </a:defRPr>
            </a:pPr>
            <a:r>
              <a:rPr sz="1575" b="0">
                <a:solidFill>
                  <a:srgbClr val="233B48"/>
                </a:solidFill>
                <a:latin typeface="Arial"/>
                <a:ea typeface="Arial"/>
                <a:cs typeface="Arial"/>
              </a:rPr>
              <a:t>2. Open SMTP: frame 7 identifies plaintext authentication.</a:t>
            </a:r>
          </a:p>
          <a:p xmlns:a="http://schemas.openxmlformats.org/drawingml/2006/main">
            <a:pPr algn="l">
              <a:defRPr sz="1575" b="0">
                <a:solidFill>
                  <a:srgbClr val="233B48"/>
                </a:solidFill>
                <a:latin typeface="Arial"/>
                <a:ea typeface="Arial"/>
                <a:cs typeface="Arial"/>
              </a:defRPr>
            </a:pPr>
            <a:r>
              <a:rPr sz="1575" b="0">
                <a:solidFill>
                  <a:srgbClr val="233B48"/>
                </a:solidFill>
                <a:latin typeface="Arial"/>
                <a:ea typeface="Arial"/>
                <a:cs typeface="Arial"/>
              </a:rPr>
              <a:t>3. Review STARTTLS remediation and export the report.</a:t>
            </a:r>
          </a:p>
        </p:txBody>
      </p:sp>
    </p:spTree>
    <p:extLst>
      <p:ext uri="{BB962C8B-B14F-4D97-AF65-F5344CB8AC3E}">
        <p14:creationId xmlns:p14="http://schemas.microsoft.com/office/powerpoint/2010/main" val="299714414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2026-09-27T13:15:47.3160000Z</dcterms:created>
  <dcterms:modified xsi:type="dcterms:W3CDTF">2026-09-27T13:15:47.3160000Z</dcterms:modified>
</coreProperties>
</file>