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49863b659c4795" /><Relationship Type="http://schemas.openxmlformats.org/officeDocument/2006/relationships/extended-properties" Target="/docProps/app.xml" Id="R6ca9d6fb17f94f47" /><Relationship Type="http://schemas.openxmlformats.org/officeDocument/2006/relationships/officeDocument" Target="/ppt/presentation.xml" Id="Rde2ea5d863174e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f632f5b9b4b95"/>
  </p:sldMasterIdLst>
  <p:notesMasterIdLst>
    <p:notesMasterId xmlns:r="http://schemas.openxmlformats.org/officeDocument/2006/relationships" r:id="R1bbc4f5fb9dc4f11"/>
  </p:notesMasterIdLst>
  <p:sldIdLst>
    <p:sldId xmlns:r="http://schemas.openxmlformats.org/officeDocument/2006/relationships" id="256" r:id="R98dc61d34e074ccf"/>
    <p:sldId xmlns:r="http://schemas.openxmlformats.org/officeDocument/2006/relationships" id="257" r:id="Rf4749762e6234849"/>
    <p:sldId xmlns:r="http://schemas.openxmlformats.org/officeDocument/2006/relationships" id="258" r:id="Re33f4690f7a741ee"/>
    <p:sldId xmlns:r="http://schemas.openxmlformats.org/officeDocument/2006/relationships" id="259" r:id="R3ea55abe62704fa8"/>
    <p:sldId xmlns:r="http://schemas.openxmlformats.org/officeDocument/2006/relationships" id="260" r:id="R0e406ab583524a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992f9cba5d472f" /><Relationship Type="http://schemas.openxmlformats.org/officeDocument/2006/relationships/slideMaster" Target="/ppt/slideMasters/slideMaster1.xml" Id="R859f632f5b9b4b95" /><Relationship Type="http://schemas.openxmlformats.org/officeDocument/2006/relationships/notesMaster" Target="/ppt/notesMasters/notesMaster1.xml" Id="R1bbc4f5fb9dc4f11" /><Relationship Type="http://schemas.openxmlformats.org/officeDocument/2006/relationships/presProps" Target="/ppt/presProps.xml" Id="R47cc877db69e4812" /><Relationship Type="http://schemas.openxmlformats.org/officeDocument/2006/relationships/viewProps" Target="/ppt/viewProps.xml" Id="R2be8f9d093384201" /><Relationship Type="http://schemas.openxmlformats.org/officeDocument/2006/relationships/tableStyles" Target="/ppt/tableStyles.xml" Id="R4e0d1156186c41e8" /><Relationship Type="http://schemas.openxmlformats.org/officeDocument/2006/relationships/slide" Target="/ppt/slides/slide1.xml" Id="R98dc61d34e074ccf" /><Relationship Type="http://schemas.openxmlformats.org/officeDocument/2006/relationships/slide" Target="/ppt/slides/slide2.xml" Id="Rf4749762e6234849" /><Relationship Type="http://schemas.openxmlformats.org/officeDocument/2006/relationships/slide" Target="/ppt/slides/slide3.xml" Id="Re33f4690f7a741ee" /><Relationship Type="http://schemas.openxmlformats.org/officeDocument/2006/relationships/slide" Target="/ppt/slides/slide4.xml" Id="R3ea55abe62704fa8" /><Relationship Type="http://schemas.openxmlformats.org/officeDocument/2006/relationships/slide" Target="/ppt/slides/slide5.xml" Id="R0e406ab583524a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a81ddf1993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1993ba43e41b7" /><Relationship Type="http://schemas.openxmlformats.org/officeDocument/2006/relationships/notesMaster" Target="/ppt/notesMasters/notesMaster1.xml" Id="R55b0a687282243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2f6eb4c6a7464d" /><Relationship Type="http://schemas.openxmlformats.org/officeDocument/2006/relationships/notesMaster" Target="/ppt/notesMasters/notesMaster1.xml" Id="Rd968c990ec9c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5c18e32d4144cc" /><Relationship Type="http://schemas.openxmlformats.org/officeDocument/2006/relationships/notesMaster" Target="/ppt/notesMasters/notesMaster1.xml" Id="R24d679c576bf43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aa39bad89e4a66" /><Relationship Type="http://schemas.openxmlformats.org/officeDocument/2006/relationships/notesMaster" Target="/ppt/notesMasters/notesMaster1.xml" Id="R59e41013e70e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3f27287574956" /><Relationship Type="http://schemas.openxmlformats.org/officeDocument/2006/relationships/notesMaster" Target="/ppt/notesMasters/notesMaster1.xml" Id="R9d4e2c2dca4f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SecureMailScope.txt and Crypterpillars_Software_SIH26159.pdf in the supplied project. Team ID was not present in supplied project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README.md; backend/app/core/pipeline.py; backend/app/core/rule_engine.py. Passive demonstrative assessment. No email decryption or production forensic assurance.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README.md Architecture; backend/app/core; src/CaptureWorkspace.tsx. XGBoost exists as a challenger, not presented as the primary classifier.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Source: README.md Validation and Evidence boundaries. Benefits are expected, not measured. Synthetic ML evaluation does not establish real-world accuracy. Future validation should include representative real captures.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existing project screenshots tmp/video/workspace.png and tmp/video/session.png. These show the constructed cleartext_auth.pcap fixture, not live production traffic.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64ffe63314a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d24b19ddf4b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39349b75a4a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7a04e7bbc4a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3dabf40884a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e97da1da34f0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d2b6d004543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c65ca185344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5497b42e64a0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62a7b12f54b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6ca90c4284a3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E0A1ED-CC2C-47A8-9C34-E3BBA7434B2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BA30948-1CBA-4765-8022-47705DCC16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EB4C0C-A0DB-4C0C-9A35-E453CBBDDD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66397A-C6AB-4FAE-A310-B6FD7BB6C0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7C71FE-DC94-4C76-9C5C-29E6EEAD3B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534013-C0F6-4553-B65F-2FC337A66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811208-397D-42CF-A647-E0DFD930A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1F2D0E-1087-4FCD-91C2-565234B48C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9FB0A4-4950-45A0-B97E-D525E7120F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2064BF-DAAA-401F-BC70-917C66CDB5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503F22-0DDF-44A4-9822-D5839D389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89E145-D348-45A7-B3AA-A5777D222F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C7208B-C023-4743-A187-26CB281D27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E33FFC-5169-49D4-B1D0-755EA6D320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5F06C5-3CA0-4312-8DEA-81C49853AF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E592B-70D0-4FD7-BE27-080EA4B65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D6488B-361B-4205-917F-ADC3614C2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46FB892-246B-42A0-BAA7-83F772796C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7D05AC-066A-4841-9859-B3D00637D9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FCF8EA-63D8-4F38-AAD8-12D916AEC3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06E8EC-6DA8-428E-AE12-EFA7F46EA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1CA5B8-4810-462C-B573-3B2866D4A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05AAC8-61C3-48D1-A380-E5997FC371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C89E555-6A45-46A3-8617-E6D48CEC1C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54DD8B0-7601-42A7-A2F7-2BFD84A417F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56F7F07-629F-40CD-B36B-5EBCA4D537C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056EE8-15D6-4015-9C4F-CA5DF5984C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84051B-D339-4C21-9040-482F600375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E8DB1D-0D37-47EF-A854-ADE1755F5C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D948B3-D8D9-45CE-A367-F9F8A91AE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9F3420-7C32-46F6-B5C7-1C2C0425D0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AA153-A292-47F3-A736-DA6713D0AC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7D8FD0-0F7C-4758-B82E-60AA2D4A92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8A82D9-0B0C-47C1-877D-E76EB344B2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B6217D-2933-4D62-832D-7A7EB87F21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C9BBB-801F-44F3-885D-973ED65F43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0C466F-5CF6-4B8D-B36A-2A7E55FB34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65A1C9-7B32-45B1-9A97-130E14413C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F034512-5F16-4DB9-A00D-4EA2E6CD3A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E6339F-BB0C-4486-83C1-6C0B62B25E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0B6646-ACD9-485F-9AAE-7C7AE4577A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CF111F-D3C0-4BE2-A541-90790BA849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F99496-3234-4BAF-B8BF-EB10272DF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CB9E933-CADC-41BD-99EF-EFB073ECDD6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2A330C3-6ABF-4E14-9302-2BE8483F6F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B71707-030C-49B6-A77F-87A1B3BE12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9CA160-C506-44BA-A080-EE61F4668A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01C8EB-A0F7-4C7F-8F3A-EDB4EBC2D9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6DC4C0-7128-4726-90D0-601F23041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163B4A-E737-4D19-9095-2094335AC6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116B5C-DF3F-4036-AE6C-FD610DF736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F35E23-A33F-4D29-83FB-5F63C023A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27B46A-A3EF-46F7-8A12-0BCF41D6C2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1E05710-070E-4AE9-8CC0-D6A8C39D14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ECA456-4DCD-4717-A2D3-9F82A96A5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B32A1F-F20C-407C-8F6B-FB263B5448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4C7B0B-83FF-47BF-8AB6-A23A158EAE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2CA351-47D2-40B3-BEAE-40A83046D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4098b1095a4864" /><Relationship Type="http://schemas.openxmlformats.org/officeDocument/2006/relationships/slideLayout" Target="/ppt/slideLayouts/slideLayout1.xml" Id="R1b41e109ac7545c2" /><Relationship Type="http://schemas.openxmlformats.org/officeDocument/2006/relationships/slideLayout" Target="/ppt/slideLayouts/slideLayout2.xml" Id="R517940a09b484487" /><Relationship Type="http://schemas.openxmlformats.org/officeDocument/2006/relationships/slideLayout" Target="/ppt/slideLayouts/slideLayout3.xml" Id="R08015670a9e747fc" /><Relationship Type="http://schemas.openxmlformats.org/officeDocument/2006/relationships/slideLayout" Target="/ppt/slideLayouts/slideLayout4.xml" Id="Rf7bf9d4e0676449e" /><Relationship Type="http://schemas.openxmlformats.org/officeDocument/2006/relationships/slideLayout" Target="/ppt/slideLayouts/slideLayout5.xml" Id="R11aad0997d45433b" /><Relationship Type="http://schemas.openxmlformats.org/officeDocument/2006/relationships/slideLayout" Target="/ppt/slideLayouts/slideLayout6.xml" Id="Rbe38a758cb13408d" /><Relationship Type="http://schemas.openxmlformats.org/officeDocument/2006/relationships/slideLayout" Target="/ppt/slideLayouts/slideLayout7.xml" Id="R22aa9f9e527d4bea" /><Relationship Type="http://schemas.openxmlformats.org/officeDocument/2006/relationships/slideLayout" Target="/ppt/slideLayouts/slideLayout8.xml" Id="Ra86bbe54754346e3" /><Relationship Type="http://schemas.openxmlformats.org/officeDocument/2006/relationships/slideLayout" Target="/ppt/slideLayouts/slideLayout9.xml" Id="R80542b6daeb84d9f" /><Relationship Type="http://schemas.openxmlformats.org/officeDocument/2006/relationships/slideLayout" Target="/ppt/slideLayouts/slideLayout10.xml" Id="R8188f073a0e3417a" /><Relationship Type="http://schemas.openxmlformats.org/officeDocument/2006/relationships/slideLayout" Target="/ppt/slideLayouts/slideLayout11.xml" Id="R55331548cae747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9862790-5488-4632-AF0D-E1BA9EFA07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D51062-7E0D-4976-8E87-B2BD750250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463BB3-C60B-4398-94BE-57E7E2F49ED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C3D695-017E-4053-9EE0-794E48ADC9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C1FAE8-A65F-4F27-B26C-30207506B7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1e109ac7545c2"/>
    <p:sldLayoutId xmlns:r="http://schemas.openxmlformats.org/officeDocument/2006/relationships" id="2147483650" r:id="R517940a09b484487"/>
    <p:sldLayoutId xmlns:r="http://schemas.openxmlformats.org/officeDocument/2006/relationships" id="2147483651" r:id="R08015670a9e747fc"/>
    <p:sldLayoutId xmlns:r="http://schemas.openxmlformats.org/officeDocument/2006/relationships" id="2147483652" r:id="Rf7bf9d4e0676449e"/>
    <p:sldLayoutId xmlns:r="http://schemas.openxmlformats.org/officeDocument/2006/relationships" id="2147483653" r:id="R11aad0997d45433b"/>
    <p:sldLayoutId xmlns:r="http://schemas.openxmlformats.org/officeDocument/2006/relationships" id="2147483654" r:id="Rbe38a758cb13408d"/>
    <p:sldLayoutId xmlns:r="http://schemas.openxmlformats.org/officeDocument/2006/relationships" id="2147483655" r:id="R22aa9f9e527d4bea"/>
    <p:sldLayoutId xmlns:r="http://schemas.openxmlformats.org/officeDocument/2006/relationships" id="2147483656" r:id="Ra86bbe54754346e3"/>
    <p:sldLayoutId xmlns:r="http://schemas.openxmlformats.org/officeDocument/2006/relationships" id="2147483657" r:id="R80542b6daeb84d9f"/>
    <p:sldLayoutId xmlns:r="http://schemas.openxmlformats.org/officeDocument/2006/relationships" id="2147483658" r:id="R8188f073a0e3417a"/>
    <p:sldLayoutId xmlns:r="http://schemas.openxmlformats.org/officeDocument/2006/relationships" id="2147483659" r:id="R55331548cae747cd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d42884e32440c" /><Relationship Type="http://schemas.openxmlformats.org/officeDocument/2006/relationships/image" Target="/ppt/media/image.png" Id="R15df34d9530f4f79" /><Relationship Type="http://schemas.openxmlformats.org/officeDocument/2006/relationships/image" Target="/ppt/media/image2.png" Id="R41758be6190049ed" /><Relationship Type="http://schemas.openxmlformats.org/officeDocument/2006/relationships/notesSlide" Target="/ppt/notesSlides/notesSlide1.xml" Id="R10bda41c046f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594be660bc42a7" /><Relationship Type="http://schemas.openxmlformats.org/officeDocument/2006/relationships/image" Target="/ppt/media/image2.png" Id="R07ea6e6760fa4aa2" /><Relationship Type="http://schemas.openxmlformats.org/officeDocument/2006/relationships/notesSlide" Target="/ppt/notesSlides/notesSlide2.xml" Id="Rc784d3e8c7b246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542774d194180" /><Relationship Type="http://schemas.openxmlformats.org/officeDocument/2006/relationships/image" Target="/ppt/media/image2.png" Id="R8bf606a15986468b" /><Relationship Type="http://schemas.openxmlformats.org/officeDocument/2006/relationships/notesSlide" Target="/ppt/notesSlides/notesSlide3.xml" Id="R7be66de431044d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f39343f7ee4f57" /><Relationship Type="http://schemas.openxmlformats.org/officeDocument/2006/relationships/image" Target="/ppt/media/image2.png" Id="Re804bcbd5fea4e47" /><Relationship Type="http://schemas.openxmlformats.org/officeDocument/2006/relationships/notesSlide" Target="/ppt/notesSlides/notesSlide4.xml" Id="Rb967cfa4e72349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0727511f764acf" /><Relationship Type="http://schemas.openxmlformats.org/officeDocument/2006/relationships/image" Target="/ppt/media/image2.png" Id="R54b1cf506ea34bfd" /><Relationship Type="http://schemas.openxmlformats.org/officeDocument/2006/relationships/image" Target="/ppt/media/image3.png" Id="R07baa59592844e76" /><Relationship Type="http://schemas.openxmlformats.org/officeDocument/2006/relationships/image" Target="/ppt/media/image4.png" Id="R95510c5717704c14" /><Relationship Type="http://schemas.openxmlformats.org/officeDocument/2006/relationships/notesSlide" Target="/ppt/notesSlides/notesSlide5.xml" Id="R063b20ee652d40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df34d9530f4f79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pic>
        <p:nvPicPr>
          <p:cNvPr id="4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58be6190049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5C1CB0-6573-40DE-BAAE-E54B38A8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0">
                <a:solidFill>
                  <a:srgbClr val="214E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0">
                <a:solidFill>
                  <a:srgbClr val="214E82"/>
                </a:solidFill>
                <a:latin typeface="Times New Roman"/>
                <a:ea typeface="Times New Roman"/>
                <a:cs typeface="Times New Roman"/>
              </a:rPr>
              <a:t>SMART INDIA HACKATHON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15BD48-F173-4004-8955-613D3F4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214E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25" b="1">
                <a:solidFill>
                  <a:srgbClr val="214E82"/>
                </a:solidFill>
                <a:latin typeface="Times New Roman"/>
                <a:ea typeface="Times New Roman"/>
                <a:cs typeface="Times New Roman"/>
              </a:rPr>
              <a:t>SecureMailScope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E19414-842C-40A2-B9DC-2B2E31E7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600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AI-Assisted Cryptographic Security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Posture Assessment for Secure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Email Communications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977CC5-1577-44C0-94B7-A96D8712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6096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 Statement ID: 26159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Theme: Blockchain &amp; Cybersecurity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PS Category: Software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Name: Crypterpillars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ID: To be added</a:t>
            </a:r>
          </a:p>
        </p:txBody>
      </p:sp>
    </p:spTree>
    <p:extLst>
      <p:ext uri="{BB962C8B-B14F-4D97-AF65-F5344CB8AC3E}">
        <p14:creationId xmlns:p14="http://schemas.microsoft.com/office/powerpoint/2010/main" val="10601287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99CDDC3-3D59-45D6-AAFC-08666BB1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537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a6e6760fa4a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4BFEE327-854A-4DE1-895B-ECB151BB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119950A3-A933-4C21-8FBC-26C9FF87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13BF4302-9653-4EF2-A91D-ABC81638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@SIH Idea submission- Template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922C96C7-A3C5-4BB8-B5F8-87C69630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06F803F1-4004-4A05-8E19-A6BBC19C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1523D52C-4030-4744-AA90-77E7C030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Packet captures expose technical details, but assessing email encryption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deciding which weaknesses to fix requires specialist effort.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D248D45E-E7E6-4D41-B895-5E756A14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B679A8EA-EF2B-4779-9B66-1F20A4D9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Upload PCAP/PCAPNG to reconstruct SMTP, IMAP and POP3 sessions.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Inspect STARTTLS, TLS settings and observable certificate evidence.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67D69039-3220-462B-87F9-9412B808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What makes it useful</a:t>
            </a:r>
          </a:p>
        </p:txBody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08E47AA4-6BF3-4DA5-B442-FD78564D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Each finding links to packet evidence and remediation. The dashboard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separates deterministic findings, ML signals and unknown evidence.</a:t>
            </a:r>
          </a:p>
        </p:txBody>
      </p:sp>
    </p:spTree>
    <p:extLst>
      <p:ext uri="{BB962C8B-B14F-4D97-AF65-F5344CB8AC3E}">
        <p14:creationId xmlns:p14="http://schemas.microsoft.com/office/powerpoint/2010/main" val="2116802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2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606a1598646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EF1E3AE5-3A1E-4D9A-9C3C-715707C1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55A690F5-8B8A-4CC1-A477-BEED0368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37B9187E-4D97-4005-8FA3-EC8A0B76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@SIH Idea submission- Template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FB20BE8E-2F4A-46E4-8B34-72E08771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6ADB297B-5E13-4A17-804C-F819A300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01  Capture intake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A65B0E48-05F0-40AE-AA9E-4727F5F4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the file, retain its SHA-256 and extract packets.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52C88EA8-94B6-4010-960D-FAC5CE6F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02  Session reconstruction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F23DEEFD-1398-4336-B700-7083606F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Reassemble TCP streams and track email protocol transitions.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F4071352-59B4-4DCB-BA4D-C575604B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03  Security assessment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D96E7242-5B7A-44B3-BB96-64AFDF47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 TLS, ciphers and certificates. Run rules and separate ML signals.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6E110E38-C026-4140-BF0B-1088EDC2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04  Analyst output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0F1DE1B1-8829-429F-B238-B975C47E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Show posture scores, frame evidence and JSON / HTML / PDF reports.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2D80E9D4-D9AF-4101-9135-29E268A2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React + TypeScript / FastAPI + Python / TShark + Scapy / SQLite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 Forest for risk classification / Isolation Forest for anomalies</a:t>
            </a:r>
          </a:p>
        </p:txBody>
      </p:sp>
    </p:spTree>
    <p:extLst>
      <p:ext uri="{BB962C8B-B14F-4D97-AF65-F5344CB8AC3E}">
        <p14:creationId xmlns:p14="http://schemas.microsoft.com/office/powerpoint/2010/main" val="14688602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4bcbd5fea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0FF8FAA8-07C5-4923-9442-59888334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1F86A691-AA85-4EC9-93E1-DAC062D9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FEASIBILITY AND BENEFITS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16A5AEA-E811-4760-B9C4-DE8AD745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@SIH Idea submission- Template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3698F24E-AA31-458D-84A4-DD078685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B71F1068-59DC-49BB-9BD4-F978C638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D9853A44-E7AC-4586-A753-104C2DAB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working prototype analyzes uploads locally and exports reports.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Synthetic capture fixtures cover cleartext auth, weak TLS and certificate faults.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BC6D7022-BA71-4D52-BA36-6D23BEFA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Challenges and response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EF8ED273-D44F-47C6-9339-B0DF8E1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TLS 1.3 hides certificate evidence. Partial captures leave gaps.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Mark unknowns explicitly, exclude incomplete sessions and validate on real traffic.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EAB88E63-3F92-400F-AE26-AD6D6A8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Expected impact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12F29796-EDA0-4FA1-9CD5-FB9B626B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Help mail administrators and SOC analysts prioritize configuration fixes.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Redact credentials and reduce manual packet review with traceable findings.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2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1cf506ea34b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FDFB68E-5DAB-4437-8261-EDBF2DBB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0A75A1EB-FF19-4CCB-A7CB-FE3416E6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DEMONSTRATIVE WEB APP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09B534B3-CA42-4D97-ABA1-86F5673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@SIH Idea submission- Template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A62D72A7-1331-4555-B58C-7318B3A5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A90DC4F-4C63-4DE0-BA4E-F566CCD5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Capture analysis overview</a:t>
            </a:r>
          </a:p>
        </p:txBody>
      </p:sp>
      <p:pic>
        <p:nvPicPr>
          <p:cNvPr id="17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aa59592844e76"/>
          <a:stretch xmlns:a="http://schemas.openxmlformats.org/drawingml/2006/main"/>
        </p:blipFill>
        <p:spPr>
          <a:xfrm xmlns:a="http://schemas.openxmlformats.org/drawingml/2006/main">
            <a:off x="457200" y="1914525"/>
            <a:ext cx="6762750" cy="3381375"/>
          </a:xfrm>
          <a:prstGeom xmlns:a="http://schemas.openxmlformats.org/drawingml/2006/main" prst="rect">
            <a:avLst/>
          </a:prstGeom>
        </p:spPr>
      </p:pic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8F4C127B-68E1-4FB3-8B1C-C3FC3FEA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3620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4E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4E82"/>
                </a:solidFill>
                <a:latin typeface="Arial"/>
                <a:ea typeface="Arial"/>
                <a:cs typeface="Arial"/>
              </a:rPr>
              <a:t>Packet evidence and remediation</a:t>
            </a:r>
          </a:p>
        </p:txBody>
      </p:sp>
      <p:pic>
        <p:nvPicPr>
          <p:cNvPr id="174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10c5717704c14"/>
          <a:stretch xmlns:a="http://schemas.openxmlformats.org/drawingml/2006/main"/>
        </p:blipFill>
        <p:spPr>
          <a:xfrm xmlns:a="http://schemas.openxmlformats.org/drawingml/2006/main">
            <a:off x="7829550" y="1914525"/>
            <a:ext cx="3667125" cy="4191000"/>
          </a:xfrm>
          <a:prstGeom xmlns:a="http://schemas.openxmlformats.org/drawingml/2006/main" prst="rect">
            <a:avLst/>
          </a:prstGeom>
        </p:spPr>
      </p:pic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F7AB18E4-0215-4D35-AD45-887C07D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676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Actual app screens using a synthetic demo capture.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Findings link to frames and keep ML signals separate.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2026-09-27T12:16:42.5170000Z</dcterms:created>
  <dcterms:modified xsi:type="dcterms:W3CDTF">2026-09-27T12:16:42.5170000Z</dcterms:modified>
</coreProperties>
</file>