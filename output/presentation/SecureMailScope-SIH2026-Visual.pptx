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812181b8bd491f" /><Relationship Type="http://schemas.openxmlformats.org/officeDocument/2006/relationships/extended-properties" Target="/docProps/app.xml" Id="Rcdb8de0df71b4627" /><Relationship Type="http://schemas.openxmlformats.org/officeDocument/2006/relationships/officeDocument" Target="/ppt/presentation.xml" Id="Rb8ec40422a27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0f33ffb5ef460e"/>
  </p:sldMasterIdLst>
  <p:notesMasterIdLst>
    <p:notesMasterId xmlns:r="http://schemas.openxmlformats.org/officeDocument/2006/relationships" r:id="R0e6ce42aa3074a2c"/>
  </p:notesMasterIdLst>
  <p:sldIdLst>
    <p:sldId xmlns:r="http://schemas.openxmlformats.org/officeDocument/2006/relationships" id="256" r:id="R8afc0e466863413f"/>
    <p:sldId xmlns:r="http://schemas.openxmlformats.org/officeDocument/2006/relationships" id="257" r:id="R2aaad57d2e55421c"/>
    <p:sldId xmlns:r="http://schemas.openxmlformats.org/officeDocument/2006/relationships" id="258" r:id="R60b88d1dc770470a"/>
    <p:sldId xmlns:r="http://schemas.openxmlformats.org/officeDocument/2006/relationships" id="259" r:id="R01d4b2d1698f40b8"/>
    <p:sldId xmlns:r="http://schemas.openxmlformats.org/officeDocument/2006/relationships" id="260" r:id="Rae632c57374a4e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6e7bbe1a544bb" /><Relationship Type="http://schemas.openxmlformats.org/officeDocument/2006/relationships/slideMaster" Target="/ppt/slideMasters/slideMaster1.xml" Id="R1d0f33ffb5ef460e" /><Relationship Type="http://schemas.openxmlformats.org/officeDocument/2006/relationships/notesMaster" Target="/ppt/notesMasters/notesMaster1.xml" Id="R0e6ce42aa3074a2c" /><Relationship Type="http://schemas.openxmlformats.org/officeDocument/2006/relationships/presProps" Target="/ppt/presProps.xml" Id="R6e17be3642da4bb2" /><Relationship Type="http://schemas.openxmlformats.org/officeDocument/2006/relationships/viewProps" Target="/ppt/viewProps.xml" Id="R485db4a785044720" /><Relationship Type="http://schemas.openxmlformats.org/officeDocument/2006/relationships/tableStyles" Target="/ppt/tableStyles.xml" Id="Rbe1cebe249d64e8a" /><Relationship Type="http://schemas.openxmlformats.org/officeDocument/2006/relationships/slide" Target="/ppt/slides/slide1.xml" Id="R8afc0e466863413f" /><Relationship Type="http://schemas.openxmlformats.org/officeDocument/2006/relationships/slide" Target="/ppt/slides/slide2.xml" Id="R2aaad57d2e55421c" /><Relationship Type="http://schemas.openxmlformats.org/officeDocument/2006/relationships/slide" Target="/ppt/slides/slide3.xml" Id="R60b88d1dc770470a" /><Relationship Type="http://schemas.openxmlformats.org/officeDocument/2006/relationships/slide" Target="/ppt/slides/slide4.xml" Id="R01d4b2d1698f40b8" /><Relationship Type="http://schemas.openxmlformats.org/officeDocument/2006/relationships/slide" Target="/ppt/slides/slide5.xml" Id="Rae632c57374a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3d33d75df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b7bd20d514919" /><Relationship Type="http://schemas.openxmlformats.org/officeDocument/2006/relationships/notesMaster" Target="/ppt/notesMasters/notesMaster1.xml" Id="R28759ea372d8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24235022d40be" /><Relationship Type="http://schemas.openxmlformats.org/officeDocument/2006/relationships/notesMaster" Target="/ppt/notesMasters/notesMaster1.xml" Id="R22e31343ac8d46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2d48737984181" /><Relationship Type="http://schemas.openxmlformats.org/officeDocument/2006/relationships/notesMaster" Target="/ppt/notesMasters/notesMaster1.xml" Id="R5d6d9eaa842b46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cb400e7e94edb" /><Relationship Type="http://schemas.openxmlformats.org/officeDocument/2006/relationships/notesMaster" Target="/ppt/notesMasters/notesMaster1.xml" Id="R1e39f8984dec49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641585407b463f" /><Relationship Type="http://schemas.openxmlformats.org/officeDocument/2006/relationships/notesMaster" Target="/ppt/notesMasters/notesMaster1.xml" Id="R6e4ceb62096d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SecureMailScope.txt and Crypterpillars_Software_SIH26159.pdf in the supplied project. Team ID was not present in supplied project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README.md; backend/app/core/pipeline.py; backend/app/core/rule_engine.py. Passive demonstrative assessment. No email decryption or production forensic assurance.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Illustration generated using built-in ImageGen: four-stage navy/teal/copper workflow showing capture files, email reconstruction, security inspection and report. Source asset: tmp/ppt-build/workflow-illustration.png. Sources: README.md Architecture; backend/app/core; src/CaptureWorkspace.tsx. XGBoost exists as a challenger, not presented as the primary classifier.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Source: README.md Validation and Evidence boundaries. Benefits are expected, not measured. Synthetic ML evaluation does not establish real-world accuracy. Future validation should include representative real captures.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existing project screenshots tmp/video/workspace.png and tmp/video/session.png. These show the constructed cleartext_auth.pcap fixture, not live production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a4102832e48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26a4bc8c442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cadfe660244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125ed57d947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1cec923f84f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85fd8cdce4c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e414e744f41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057fbe7054b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654adff6a46f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d4db5eef541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b4abcf7de427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5E9769-AE2F-4D1A-A4F5-2E3959A7E1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3CDE544-1A5A-494B-8D5A-FD7CD9C8FD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BBEA7E-2BAD-4D3E-B256-3D2E8595F4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99BA18-580E-4DA4-A55D-81BB03DD68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62D397-14A5-453F-80B5-0C6F5F0CE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891225-BB04-4E66-80F1-7E5821E69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F49B82-9157-4662-BD71-081361228E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A0D60A-944C-48A6-A92E-E340986E54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C93B-B82E-4D90-B332-97CF29780F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03F506-B73A-4192-8376-AED68B3CE9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10EEA9-9E8F-426E-995F-460BD9259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681D3-31B3-4398-8323-C2EF0B6F7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1A8E5B-13F6-4E62-9919-5375B41614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A1B579-4C8A-4A4E-A2C1-F257E9D56E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CCEF03-A419-4D16-9871-0620A1BA64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8EDB70-04FB-4FB9-B80E-BA9EAA68B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1DB77E-7019-484B-89B0-072D490701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A41EB0F-C674-4F50-9024-1CAC90DE68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F467BC-FD16-4250-8F75-984B0FFF4F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B0EC53-4C32-4E3D-8F01-5610AB267D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58DE0F-E6BE-4786-9FFE-BC5FB9E74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D9C7D6-7F10-438B-AB04-0EE2B9496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0149A2-AB64-45EC-BBA1-8C02B5DE6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322C0BD-6EB7-4FA2-BC60-CA85A075A6B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9544BB4-D78C-45EB-8F5C-A16587F6DF4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2DEE44A-CDA3-4382-8CD4-1A91263DBEB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C35133-0AED-4508-9100-35EB86DB45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6E15A2-5606-4CEF-8112-635E22A0CF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601E73-E1B1-41AF-A675-D95329E1A0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31F885-E077-408C-AA0E-602DCE6DC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B4E066-3563-45DA-996D-5E454FCD48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4BB5DE-252A-4E2F-8394-6E6B1ABEAF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A20C39-D56E-4579-9AAE-3A4E2962C3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46EB2E-769D-4972-8ED2-75E8976DF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496EDD-312B-4C97-BA08-66D3EC6D25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788A6D-51CE-4F74-8843-3356D9DA68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964E6F-8C31-4862-BC4F-4008C82F9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146ECA-2EE8-47A9-8C0A-F3E5691243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9D0563-4F12-4F53-8C25-C5A603472E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B0201F-5FC4-4326-854D-8CFBB22F66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B08A43-017A-4CD4-8468-03B5A6D430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4493BE-9118-435D-83E8-3BF578157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519ECC-CD06-44CB-95B8-CFC05AC4D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4A4E03C-0287-435A-9A81-01212C31E33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A0E272-3750-4570-B73F-6C00337C8C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D1F842-CD8F-46FE-89AD-3C534B4F82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47C721-7967-4791-B0F8-1241021304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96487-0039-4667-A058-C814CD398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18BB80-0C17-4CFA-8A36-912A45C2A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985BB0-69C4-443E-BC78-6092BD86A5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D0AA75-2248-4064-B431-DAD8D97FAC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333200-1183-4A23-B272-1117A8C9A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38DCB9-4609-4A38-BCE4-3AD4D11C2D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377618B-16B6-4BF6-A2C3-643BE0AF0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5B48784-E7C2-49C7-872A-4AD9A5F51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5A9FE0-D927-4284-9ABD-C95B76535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F33B1B-03CE-4080-9215-2D7FC8C76D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E912BA-D253-426B-815D-1B105BB93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208db9c954f5d" /><Relationship Type="http://schemas.openxmlformats.org/officeDocument/2006/relationships/slideLayout" Target="/ppt/slideLayouts/slideLayout1.xml" Id="R397775f274ef4a40" /><Relationship Type="http://schemas.openxmlformats.org/officeDocument/2006/relationships/slideLayout" Target="/ppt/slideLayouts/slideLayout2.xml" Id="Rb5aec1cbb0014fe2" /><Relationship Type="http://schemas.openxmlformats.org/officeDocument/2006/relationships/slideLayout" Target="/ppt/slideLayouts/slideLayout3.xml" Id="R8d5df3eb16f74214" /><Relationship Type="http://schemas.openxmlformats.org/officeDocument/2006/relationships/slideLayout" Target="/ppt/slideLayouts/slideLayout4.xml" Id="R4550fa9db004486c" /><Relationship Type="http://schemas.openxmlformats.org/officeDocument/2006/relationships/slideLayout" Target="/ppt/slideLayouts/slideLayout5.xml" Id="Rc3b4b98103ca478a" /><Relationship Type="http://schemas.openxmlformats.org/officeDocument/2006/relationships/slideLayout" Target="/ppt/slideLayouts/slideLayout6.xml" Id="Rb47fc5110ded495d" /><Relationship Type="http://schemas.openxmlformats.org/officeDocument/2006/relationships/slideLayout" Target="/ppt/slideLayouts/slideLayout7.xml" Id="Rb22316f1f5da40a3" /><Relationship Type="http://schemas.openxmlformats.org/officeDocument/2006/relationships/slideLayout" Target="/ppt/slideLayouts/slideLayout8.xml" Id="Rb3414d8dd0af4059" /><Relationship Type="http://schemas.openxmlformats.org/officeDocument/2006/relationships/slideLayout" Target="/ppt/slideLayouts/slideLayout9.xml" Id="Ra513e44029304d77" /><Relationship Type="http://schemas.openxmlformats.org/officeDocument/2006/relationships/slideLayout" Target="/ppt/slideLayouts/slideLayout10.xml" Id="R3160cecd840149e1" /><Relationship Type="http://schemas.openxmlformats.org/officeDocument/2006/relationships/slideLayout" Target="/ppt/slideLayouts/slideLayout11.xml" Id="R2522c756147249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1850FC2-1B71-4815-8C00-68DA80A68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88764D-EA79-437B-836B-FA152AE649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5825FB-6F5E-4428-BF15-4B4E7DCE2E8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48D4E9-C46F-47B8-A770-2378E1EF2A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313646-BCE7-4D99-9107-CA22D1B798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775f274ef4a40"/>
    <p:sldLayoutId xmlns:r="http://schemas.openxmlformats.org/officeDocument/2006/relationships" id="2147483650" r:id="Rb5aec1cbb0014fe2"/>
    <p:sldLayoutId xmlns:r="http://schemas.openxmlformats.org/officeDocument/2006/relationships" id="2147483651" r:id="R8d5df3eb16f74214"/>
    <p:sldLayoutId xmlns:r="http://schemas.openxmlformats.org/officeDocument/2006/relationships" id="2147483652" r:id="R4550fa9db004486c"/>
    <p:sldLayoutId xmlns:r="http://schemas.openxmlformats.org/officeDocument/2006/relationships" id="2147483653" r:id="Rc3b4b98103ca478a"/>
    <p:sldLayoutId xmlns:r="http://schemas.openxmlformats.org/officeDocument/2006/relationships" id="2147483654" r:id="Rb47fc5110ded495d"/>
    <p:sldLayoutId xmlns:r="http://schemas.openxmlformats.org/officeDocument/2006/relationships" id="2147483655" r:id="Rb22316f1f5da40a3"/>
    <p:sldLayoutId xmlns:r="http://schemas.openxmlformats.org/officeDocument/2006/relationships" id="2147483656" r:id="Rb3414d8dd0af4059"/>
    <p:sldLayoutId xmlns:r="http://schemas.openxmlformats.org/officeDocument/2006/relationships" id="2147483657" r:id="Ra513e44029304d77"/>
    <p:sldLayoutId xmlns:r="http://schemas.openxmlformats.org/officeDocument/2006/relationships" id="2147483658" r:id="R3160cecd840149e1"/>
    <p:sldLayoutId xmlns:r="http://schemas.openxmlformats.org/officeDocument/2006/relationships" id="2147483659" r:id="R2522c7561472499c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cb9a642d1451a" /><Relationship Type="http://schemas.openxmlformats.org/officeDocument/2006/relationships/image" Target="/ppt/media/image.png" Id="R7dc84b8e2c5743bb" /><Relationship Type="http://schemas.openxmlformats.org/officeDocument/2006/relationships/image" Target="/ppt/media/image2.png" Id="R39adace1ac9c4d8a" /><Relationship Type="http://schemas.openxmlformats.org/officeDocument/2006/relationships/notesSlide" Target="/ppt/notesSlides/notesSlide1.xml" Id="R941daca9c26047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bfe24d5b784154" /><Relationship Type="http://schemas.openxmlformats.org/officeDocument/2006/relationships/image" Target="/ppt/media/image2.png" Id="R807ec2b67e344822" /><Relationship Type="http://schemas.openxmlformats.org/officeDocument/2006/relationships/image" Target="/ppt/media/image3.png" Id="R8ef84047299a401b" /><Relationship Type="http://schemas.openxmlformats.org/officeDocument/2006/relationships/notesSlide" Target="/ppt/notesSlides/notesSlide2.xml" Id="Rd2693bbbe99647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799534bfc240fb" /><Relationship Type="http://schemas.openxmlformats.org/officeDocument/2006/relationships/image" Target="/ppt/media/image2.png" Id="Rfb36b052c1104106" /><Relationship Type="http://schemas.openxmlformats.org/officeDocument/2006/relationships/image" Target="/ppt/media/image4.png" Id="R48e61d49c19d4851" /><Relationship Type="http://schemas.openxmlformats.org/officeDocument/2006/relationships/notesSlide" Target="/ppt/notesSlides/notesSlide3.xml" Id="R284d0e3afecc41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a8fd944524a39" /><Relationship Type="http://schemas.openxmlformats.org/officeDocument/2006/relationships/image" Target="/ppt/media/image2.png" Id="Ref05ec3b1da74143" /><Relationship Type="http://schemas.openxmlformats.org/officeDocument/2006/relationships/notesSlide" Target="/ppt/notesSlides/notesSlide4.xml" Id="Reade4ad1dd594d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ab5ef206545c1" /><Relationship Type="http://schemas.openxmlformats.org/officeDocument/2006/relationships/image" Target="/ppt/media/image2.png" Id="R5b15e870156a4fae" /><Relationship Type="http://schemas.openxmlformats.org/officeDocument/2006/relationships/image" Target="/ppt/media/image5.png" Id="R5fb812c3d18b462b" /><Relationship Type="http://schemas.openxmlformats.org/officeDocument/2006/relationships/image" Target="/ppt/media/image6.png" Id="R38889d2bf1fa4dff" /><Relationship Type="http://schemas.openxmlformats.org/officeDocument/2006/relationships/notesSlide" Target="/ppt/notesSlides/notesSlide5.xml" Id="R0518fd2b560342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9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c84b8e2c5743bb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pic>
        <p:nvPicPr>
          <p:cNvPr id="5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dace1ac9c4d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7EAFBB-3DA8-4D64-A4AF-D1C27B0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0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C88E0C-BCD1-4578-80B7-D663D76E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rPr>
              <a:t>SecureMailScope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6AD9A3-B933-4F0C-8CA9-428ED55E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600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AI-Assisted Cryptographic Security</a:t>
            </a:r>
          </a:p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Posture Assessment for Secure</a:t>
            </a:r>
          </a:p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Email Communications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46E771-6A8E-41AB-A2B9-12EF3B5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PROBLEM STATEMENT 26159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10FBBA-1CCF-4F3A-8991-8528A9F3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Blockchain &amp; Cybersecurity / Software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145BEF-1370-42B3-9F1B-68E230A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EB7D7E-521D-4AB8-8481-E2B0CC3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Team ID: To be added</a:t>
            </a:r>
          </a:p>
        </p:txBody>
      </p:sp>
    </p:spTree>
    <p:extLst>
      <p:ext uri="{BB962C8B-B14F-4D97-AF65-F5344CB8AC3E}">
        <p14:creationId xmlns:p14="http://schemas.microsoft.com/office/powerpoint/2010/main" val="766582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DB4702-9643-491C-BA45-6F2BF285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537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ec2b67e34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C47FCE76-EFF8-4773-A7D5-DD84E74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9C0DCAB0-542E-4C6A-A4CA-D8E67CBE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B15408D7-6AF7-470E-89AE-5220F699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C027010C-A30A-454C-A27F-F9F92DF8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9F88BB5C-0D8E-4764-B511-E27034C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5B5E7502-DF41-45C0-91F8-64649773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Email encryption can still hide weak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settings, failed upgrades and exposed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authentication. Packet review takes expertise.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5E8B72E6-34B6-4589-9725-3EAAEC3C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A85393F9-5A06-47F7-B827-316EFFA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Upload a capture. Reconstruct email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sessions and assess the cryptographic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evidence in one analyst workspace.</a:t>
            </a:r>
          </a:p>
        </p:txBody>
      </p:sp>
      <p:pic>
        <p:nvPicPr>
          <p:cNvPr id="15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4047299a401b"/>
          <a:stretch xmlns:a="http://schemas.openxmlformats.org/drawingml/2006/main"/>
        </p:blipFill>
        <p:spPr>
          <a:xfrm xmlns:a="http://schemas.openxmlformats.org/drawingml/2006/main">
            <a:off x="6172200" y="1638300"/>
            <a:ext cx="5476875" cy="2738438"/>
          </a:xfrm>
          <a:prstGeom xmlns:a="http://schemas.openxmlformats.org/drawingml/2006/main" prst="rect">
            <a:avLst/>
          </a:prstGeom>
        </p:spPr>
      </p:pic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3EF4B199-481E-4AB9-BA59-3AF12DD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Evidence behind every finding</a:t>
            </a:r>
          </a:p>
        </p:txBody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9C3F9E94-B2CD-44CE-82BC-4E64C45C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5476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Packet frames, prioritized fixes and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separately labeled ML signals.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AE828A24-6237-440A-815B-7993F313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SMTP / IMAP / POP3</a:t>
            </a:r>
          </a:p>
        </p:txBody>
      </p:sp>
    </p:spTree>
    <p:extLst>
      <p:ext uri="{BB962C8B-B14F-4D97-AF65-F5344CB8AC3E}">
        <p14:creationId xmlns:p14="http://schemas.microsoft.com/office/powerpoint/2010/main" val="657899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6b052c110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D5A77F3B-4859-4FCA-8FDA-400B52E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26A9EC23-FDAE-452D-AA66-C27D88C8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50169A12-6E63-45EE-9C2A-19525C2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254E80C5-7EEC-4A34-8F3A-9E593200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74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61d49c19d4851"/>
          <a:stretch xmlns:a="http://schemas.openxmlformats.org/drawingml/2006/main"/>
        </p:blipFill>
        <p:spPr>
          <a:xfrm xmlns:a="http://schemas.openxmlformats.org/drawingml/2006/main">
            <a:off x="1960573" y="1276350"/>
            <a:ext cx="8270854" cy="2952750"/>
          </a:xfrm>
          <a:prstGeom xmlns:a="http://schemas.openxmlformats.org/drawingml/2006/main" prst="rect">
            <a:avLst/>
          </a:prstGeom>
        </p:spPr>
      </p:pic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02D141A-F99B-4146-91C9-2722A562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01  Capture intake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040A08F6-3601-4CB9-8156-6418A9AA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Validate PCAP/PCAPNG.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Extract packets and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retain the SHA-256.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524A721E-96B2-4E1E-8FE9-8E83390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02  Reconstruction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210A61FB-C0CC-4D42-9E1F-8DE517EC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Reassemble TCP.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Track SMTP, IMAP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POP3 sessions.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7246F562-6B83-4292-8737-F095226B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03  Assessment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A3F5FA14-BF1B-4F1B-98A1-076AA73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Check TLS and certificates.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Apply rules and separate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ML risk signals.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DE2CAC5A-8143-4628-825C-C622F3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04  Analyst output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33FFCE7B-2CBB-46EB-962D-7B916E5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Review frame evidence.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Export JSON, HTML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PDF reports.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F870BBA5-0EAF-496A-900F-7B93CAF0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3F59"/>
                </a:solidFill>
                <a:latin typeface="Arial"/>
                <a:ea typeface="Arial"/>
                <a:cs typeface="Arial"/>
              </a:rPr>
              <a:t>React + TypeScript / FastAPI + Python / TShark + Scapy / SQLite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B8348683-79DA-4F40-86BA-A43A2CD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8B88"/>
                </a:solidFill>
                <a:latin typeface="Arial"/>
                <a:ea typeface="Arial"/>
                <a:cs typeface="Arial"/>
              </a:rPr>
              <a:t>Random Forest risk classification / Isolation Forest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25408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5ec3b1da74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D9AB9F06-340B-45FF-9E68-0B1CDECD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F9700080-1E91-40A4-A33D-E02840FF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FEASIBILITY AND BENEFITS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201171A-30AB-4CD4-8B0B-3FE67E02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D48659DD-9BEF-4829-881E-F7A6FB5D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D680244F-D270-4A70-89D1-550BAC6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A1893437-2C7A-426B-B076-B28E1D6F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EC88B5DB-C0BD-419D-AC16-53B28A1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Local analysis and reports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397E9351-5A86-4ADC-A27D-E4B95D63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Upload captures, inspect findings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download analyst reports.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98117B46-B751-43EE-90BB-D17DFD07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Repeatable validation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F6D6565D-7231-4C85-B1CC-21A1395A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3495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Synthetic fixtures exercise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cleartext auth, weak TLS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certificate faults.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201A39BE-1981-4B38-B48E-69409C8A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01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C876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>
                <a:solidFill>
                  <a:srgbClr val="C8763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5FA8CC74-5B18-4AA2-8A3F-1B93E2BB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Evidence limits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8ED22E9D-12ED-486D-A446-DFA8D816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Encrypted or missing data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697D7EE7-1810-46E6-A4E4-0B19730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TLS 1.3 hides certificates.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Partial captures leave gaps.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655CB625-AA5E-48DA-BDF3-9DB0525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Explicit uncertainty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AD7832F9-2923-41D9-8A68-C19D4E6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3495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Mark unknowns and exclude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incomplete sessions. Validate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on representative real traffic.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E6668139-B758-4B32-951C-1ECF818F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01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6426F0FD-4E96-4789-B124-6D7E140F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Expected benefits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309AF748-12B2-4669-9613-086D667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More focused remediation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7AA0F11C-63CE-41C5-96D6-C057044B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Help administrators and SOC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analysts prioritize fixes.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70647A4B-E42F-4131-B497-98C1210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Less manual packet review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96971C9E-8826-40A5-8148-E1CCE5C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495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Connect findings to frames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redact credentials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in exported evidence.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5e870156a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3A8002CB-464F-4369-91C9-65ADE6BD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97478EA9-3F8B-4F94-87A0-9AC38A61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DEMONSTRATIVE WEB APP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581E07CB-CA8F-41ED-9CF7-F490100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2B98696F-F70D-4A15-808B-0AC512C0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A5C858BF-A2F5-4838-B29F-91748B4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01  Capture analysis overview</a:t>
            </a:r>
          </a:p>
        </p:txBody>
      </p:sp>
      <p:pic>
        <p:nvPicPr>
          <p:cNvPr id="17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812c3d18b462b"/>
          <a:stretch xmlns:a="http://schemas.openxmlformats.org/drawingml/2006/main"/>
        </p:blipFill>
        <p:spPr>
          <a:xfrm xmlns:a="http://schemas.openxmlformats.org/drawingml/2006/main">
            <a:off x="457200" y="1914525"/>
            <a:ext cx="6762750" cy="3381375"/>
          </a:xfrm>
          <a:prstGeom xmlns:a="http://schemas.openxmlformats.org/drawingml/2006/main" prst="rect">
            <a:avLst/>
          </a:prstGeom>
        </p:spPr>
      </p:pic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DA2BF95D-4653-4256-8C99-773B844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3620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02  Evidence and remediation</a:t>
            </a:r>
          </a:p>
        </p:txBody>
      </p:sp>
      <p:pic>
        <p:nvPicPr>
          <p:cNvPr id="174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89d2bf1fa4dff"/>
          <a:stretch xmlns:a="http://schemas.openxmlformats.org/drawingml/2006/main"/>
        </p:blipFill>
        <p:spPr>
          <a:xfrm xmlns:a="http://schemas.openxmlformats.org/drawingml/2006/main">
            <a:off x="7829550" y="1914525"/>
            <a:ext cx="3667125" cy="4191000"/>
          </a:xfrm>
          <a:prstGeom xmlns:a="http://schemas.openxmlformats.org/drawingml/2006/main" prst="rect">
            <a:avLst/>
          </a:prstGeom>
        </p:spPr>
      </p:pic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9A36DF7-2DC6-4683-B9E9-AAAAAD92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Real app screens. Synthetic demo capture.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023897C6-82DA-406A-9B9C-BE1742D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Frame evidence and separate ML signals in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2026-09-27T12:31:06.5350000Z</dcterms:created>
  <dcterms:modified xsi:type="dcterms:W3CDTF">2026-09-27T12:31:06.5350000Z</dcterms:modified>
</coreProperties>
</file>